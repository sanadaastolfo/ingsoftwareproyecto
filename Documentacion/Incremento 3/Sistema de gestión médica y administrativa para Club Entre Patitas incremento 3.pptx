
<file path=[Content_Types].xml><?xml version="1.0" encoding="utf-8"?>
<Types xmlns="http://schemas.openxmlformats.org/package/2006/content-types">
  <Default ContentType="application/vnd.openxmlformats-officedocument.oleObject" Extension="bin"/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x="18288000" cy="10287000"/>
  <p:notesSz cx="6858000" cy="9144000"/>
  <p:embeddedFontLst>
    <p:embeddedFont>
      <p:font typeface="Dynapuff Semi-Bold" charset="1" panose="00000000000000000000"/>
      <p:regular r:id="rId18"/>
    </p:embeddedFont>
    <p:embeddedFont>
      <p:font typeface="Milk Tea Font TH" charset="1" panose="02000503000000000000"/>
      <p:regular r:id="rId19"/>
    </p:embeddedFont>
    <p:embeddedFont>
      <p:font typeface="Hero Bold" charset="1" panose="00000500000000000000"/>
      <p:regular r:id="rId20"/>
    </p:embeddedFont>
    <p:embeddedFont>
      <p:font typeface="Milk Tea Font TH Bold" charset="1" panose="02000503000000000000"/>
      <p:regular r:id="rId2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7.png" Type="http://schemas.openxmlformats.org/officeDocument/2006/relationships/image"/><Relationship Id="rId5" Target="../media/image8.png" Type="http://schemas.openxmlformats.org/officeDocument/2006/relationships/image"/><Relationship Id="rId6" Target="../media/image3.png" Type="http://schemas.openxmlformats.org/officeDocument/2006/relationships/image"/><Relationship Id="rId7" Target="../media/image4.svg" Type="http://schemas.openxmlformats.org/officeDocument/2006/relationships/image"/><Relationship Id="rId8" Target="../media/image6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1.png" Type="http://schemas.openxmlformats.org/officeDocument/2006/relationships/image"/><Relationship Id="rId5" Target="../media/image2.svg" Type="http://schemas.openxmlformats.org/officeDocument/2006/relationships/image"/><Relationship Id="rId6" Target="../media/image6.png" Type="http://schemas.openxmlformats.org/officeDocument/2006/relationships/image"/><Relationship Id="rId7" Target="../media/image9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10.png" Type="http://schemas.openxmlformats.org/officeDocument/2006/relationships/image"/><Relationship Id="rId7" Target="../media/image11.png" Type="http://schemas.openxmlformats.org/officeDocument/2006/relationships/image"/><Relationship Id="rId8" Target="../media/image12.png" Type="http://schemas.openxmlformats.org/officeDocument/2006/relationships/image"/><Relationship Id="rId9" Target="../media/image6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6.png" Type="http://schemas.openxmlformats.org/officeDocument/2006/relationships/image"/><Relationship Id="rId7" Target="../media/image13.png" Type="http://schemas.openxmlformats.org/officeDocument/2006/relationships/image"/><Relationship Id="rId8" Target="../embeddings/oleObject1.bin" Type="http://schemas.openxmlformats.org/officeDocument/2006/relationships/oleObject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6.png" Type="http://schemas.openxmlformats.org/officeDocument/2006/relationships/image"/><Relationship Id="rId7" Target="../media/image14.png" Type="http://schemas.openxmlformats.org/officeDocument/2006/relationships/image"/><Relationship Id="rId8" Target="../media/image15.png" Type="http://schemas.openxmlformats.org/officeDocument/2006/relationships/image"/><Relationship Id="rId9" Target="../media/image16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6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6.png" Type="http://schemas.openxmlformats.org/officeDocument/2006/relationships/image"/><Relationship Id="rId7" Target="../media/image17.png" Type="http://schemas.openxmlformats.org/officeDocument/2006/relationships/image"/><Relationship Id="rId8" Target="../media/image18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19.png" Type="http://schemas.openxmlformats.org/officeDocument/2006/relationships/image"/><Relationship Id="rId7" Target="../media/image6.png" Type="http://schemas.openxmlformats.org/officeDocument/2006/relationships/image"/><Relationship Id="rId8" Target="../media/image20.png" Type="http://schemas.openxmlformats.org/officeDocument/2006/relationships/image"/><Relationship Id="rId9" Target="../media/image21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1.png" Type="http://schemas.openxmlformats.org/officeDocument/2006/relationships/image"/><Relationship Id="rId5" Target="../media/image2.svg" Type="http://schemas.openxmlformats.org/officeDocument/2006/relationships/image"/><Relationship Id="rId6" Target="../media/image6.png" Type="http://schemas.openxmlformats.org/officeDocument/2006/relationships/image"/><Relationship Id="rId7" Target="../media/image22.png" Type="http://schemas.openxmlformats.org/officeDocument/2006/relationships/image"/><Relationship Id="rId8" Target="../media/image23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6.png" Type="http://schemas.openxmlformats.org/officeDocument/2006/relationships/image"/><Relationship Id="rId5" Target="../media/image24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25.png" Type="http://schemas.openxmlformats.org/officeDocument/2006/relationships/image"/><Relationship Id="rId5" Target="../media/image6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784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6549102" y="4810151"/>
            <a:ext cx="15884742" cy="7930499"/>
          </a:xfrm>
          <a:custGeom>
            <a:avLst/>
            <a:gdLst/>
            <a:ahLst/>
            <a:cxnLst/>
            <a:rect r="r" b="b" t="t" l="l"/>
            <a:pathLst>
              <a:path h="7930499" w="15884742">
                <a:moveTo>
                  <a:pt x="0" y="0"/>
                </a:moveTo>
                <a:lnTo>
                  <a:pt x="15884743" y="0"/>
                </a:lnTo>
                <a:lnTo>
                  <a:pt x="15884743" y="7930500"/>
                </a:lnTo>
                <a:lnTo>
                  <a:pt x="0" y="79305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0">
            <a:off x="-3186287" y="7625124"/>
            <a:ext cx="12953696" cy="6467166"/>
          </a:xfrm>
          <a:custGeom>
            <a:avLst/>
            <a:gdLst/>
            <a:ahLst/>
            <a:cxnLst/>
            <a:rect r="r" b="b" t="t" l="l"/>
            <a:pathLst>
              <a:path h="6467166" w="12953696">
                <a:moveTo>
                  <a:pt x="12953696" y="0"/>
                </a:moveTo>
                <a:lnTo>
                  <a:pt x="0" y="0"/>
                </a:lnTo>
                <a:lnTo>
                  <a:pt x="0" y="6467166"/>
                </a:lnTo>
                <a:lnTo>
                  <a:pt x="12953696" y="6467166"/>
                </a:lnTo>
                <a:lnTo>
                  <a:pt x="12953696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0">
            <a:off x="15923945" y="2812417"/>
            <a:ext cx="3287577" cy="5656046"/>
          </a:xfrm>
          <a:custGeom>
            <a:avLst/>
            <a:gdLst/>
            <a:ahLst/>
            <a:cxnLst/>
            <a:rect r="r" b="b" t="t" l="l"/>
            <a:pathLst>
              <a:path h="5656046" w="3287577">
                <a:moveTo>
                  <a:pt x="3287577" y="0"/>
                </a:moveTo>
                <a:lnTo>
                  <a:pt x="0" y="0"/>
                </a:lnTo>
                <a:lnTo>
                  <a:pt x="0" y="5656047"/>
                </a:lnTo>
                <a:lnTo>
                  <a:pt x="3287577" y="5656047"/>
                </a:lnTo>
                <a:lnTo>
                  <a:pt x="3287577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9444919" y="-1682276"/>
            <a:ext cx="3073631" cy="5287968"/>
          </a:xfrm>
          <a:custGeom>
            <a:avLst/>
            <a:gdLst/>
            <a:ahLst/>
            <a:cxnLst/>
            <a:rect r="r" b="b" t="t" l="l"/>
            <a:pathLst>
              <a:path h="5287968" w="3073631">
                <a:moveTo>
                  <a:pt x="0" y="0"/>
                </a:moveTo>
                <a:lnTo>
                  <a:pt x="3073631" y="0"/>
                </a:lnTo>
                <a:lnTo>
                  <a:pt x="3073631" y="5287968"/>
                </a:lnTo>
                <a:lnTo>
                  <a:pt x="0" y="528796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1115354" y="931907"/>
            <a:ext cx="6752239" cy="9750526"/>
          </a:xfrm>
          <a:custGeom>
            <a:avLst/>
            <a:gdLst/>
            <a:ahLst/>
            <a:cxnLst/>
            <a:rect r="r" b="b" t="t" l="l"/>
            <a:pathLst>
              <a:path h="9750526" w="6752239">
                <a:moveTo>
                  <a:pt x="0" y="0"/>
                </a:moveTo>
                <a:lnTo>
                  <a:pt x="6752239" y="0"/>
                </a:lnTo>
                <a:lnTo>
                  <a:pt x="6752239" y="9750526"/>
                </a:lnTo>
                <a:lnTo>
                  <a:pt x="0" y="975052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734027" y="2090004"/>
            <a:ext cx="9320874" cy="47199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310"/>
              </a:lnSpc>
            </a:pPr>
            <a:r>
              <a:rPr lang="en-US" sz="8500" b="true">
                <a:solidFill>
                  <a:srgbClr val="FFFFFF"/>
                </a:solidFill>
                <a:latin typeface="Dynapuff Semi-Bold"/>
                <a:ea typeface="Dynapuff Semi-Bold"/>
                <a:cs typeface="Dynapuff Semi-Bold"/>
                <a:sym typeface="Dynapuff Semi-Bold"/>
              </a:rPr>
              <a:t>Sistema de gestión médica y administrativa para Club Entre Patitas 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734027" y="6863912"/>
            <a:ext cx="3242977" cy="19114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14"/>
              </a:lnSpc>
            </a:pPr>
            <a:r>
              <a:rPr lang="en-US" sz="2554" spc="-79">
                <a:solidFill>
                  <a:srgbClr val="FFFFFF"/>
                </a:solidFill>
                <a:latin typeface="Milk Tea Font TH"/>
                <a:ea typeface="Milk Tea Font TH"/>
                <a:cs typeface="Milk Tea Font TH"/>
                <a:sym typeface="Milk Tea Font TH"/>
              </a:rPr>
              <a:t>Rosita Acuña Ramírez </a:t>
            </a:r>
          </a:p>
          <a:p>
            <a:pPr algn="l">
              <a:lnSpc>
                <a:spcPts val="3014"/>
              </a:lnSpc>
            </a:pPr>
            <a:r>
              <a:rPr lang="en-US" sz="2554" spc="-79">
                <a:solidFill>
                  <a:srgbClr val="FFFFFF"/>
                </a:solidFill>
                <a:latin typeface="Milk Tea Font TH"/>
                <a:ea typeface="Milk Tea Font TH"/>
                <a:cs typeface="Milk Tea Font TH"/>
                <a:sym typeface="Milk Tea Font TH"/>
              </a:rPr>
              <a:t>Catalina De La Fuente Carreño</a:t>
            </a:r>
          </a:p>
          <a:p>
            <a:pPr algn="l">
              <a:lnSpc>
                <a:spcPts val="3014"/>
              </a:lnSpc>
            </a:pPr>
            <a:r>
              <a:rPr lang="en-US" sz="2554" spc="-79">
                <a:solidFill>
                  <a:srgbClr val="FFFFFF"/>
                </a:solidFill>
                <a:latin typeface="Milk Tea Font TH"/>
                <a:ea typeface="Milk Tea Font TH"/>
                <a:cs typeface="Milk Tea Font TH"/>
                <a:sym typeface="Milk Tea Font TH"/>
              </a:rPr>
              <a:t>Whitney Otaegui Adrián </a:t>
            </a:r>
          </a:p>
          <a:p>
            <a:pPr algn="l">
              <a:lnSpc>
                <a:spcPts val="3014"/>
              </a:lnSpc>
            </a:pPr>
          </a:p>
        </p:txBody>
      </p:sp>
      <p:sp>
        <p:nvSpPr>
          <p:cNvPr name="TextBox 9" id="9"/>
          <p:cNvSpPr txBox="true"/>
          <p:nvPr/>
        </p:nvSpPr>
        <p:spPr>
          <a:xfrm rot="0">
            <a:off x="4244439" y="6809974"/>
            <a:ext cx="3267018" cy="19114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14"/>
              </a:lnSpc>
            </a:pPr>
            <a:r>
              <a:rPr lang="en-US" sz="2554" spc="-79">
                <a:solidFill>
                  <a:srgbClr val="FFFFFF"/>
                </a:solidFill>
                <a:latin typeface="Milk Tea Font TH"/>
                <a:ea typeface="Milk Tea Font TH"/>
                <a:cs typeface="Milk Tea Font TH"/>
                <a:sym typeface="Milk Tea Font TH"/>
              </a:rPr>
              <a:t>Bastián Erazo Muñoz </a:t>
            </a:r>
          </a:p>
          <a:p>
            <a:pPr algn="l">
              <a:lnSpc>
                <a:spcPts val="3014"/>
              </a:lnSpc>
            </a:pPr>
            <a:r>
              <a:rPr lang="en-US" sz="2554" spc="-79">
                <a:solidFill>
                  <a:srgbClr val="FFFFFF"/>
                </a:solidFill>
                <a:latin typeface="Milk Tea Font TH"/>
                <a:ea typeface="Milk Tea Font TH"/>
                <a:cs typeface="Milk Tea Font TH"/>
                <a:sym typeface="Milk Tea Font TH"/>
              </a:rPr>
              <a:t>Marcos Lazo Varela </a:t>
            </a:r>
          </a:p>
          <a:p>
            <a:pPr algn="l">
              <a:lnSpc>
                <a:spcPts val="3014"/>
              </a:lnSpc>
            </a:pPr>
            <a:r>
              <a:rPr lang="en-US" sz="2554" spc="-79">
                <a:solidFill>
                  <a:srgbClr val="FFFFFF"/>
                </a:solidFill>
                <a:latin typeface="Milk Tea Font TH"/>
                <a:ea typeface="Milk Tea Font TH"/>
                <a:cs typeface="Milk Tea Font TH"/>
                <a:sym typeface="Milk Tea Font TH"/>
              </a:rPr>
              <a:t>Alejandro Matus Silva </a:t>
            </a:r>
          </a:p>
          <a:p>
            <a:pPr algn="l">
              <a:lnSpc>
                <a:spcPts val="3014"/>
              </a:lnSpc>
            </a:pPr>
            <a:r>
              <a:rPr lang="en-US" sz="2554" spc="-79">
                <a:solidFill>
                  <a:srgbClr val="FFFFFF"/>
                </a:solidFill>
                <a:latin typeface="Milk Tea Font TH"/>
                <a:ea typeface="Milk Tea Font TH"/>
                <a:cs typeface="Milk Tea Font TH"/>
                <a:sym typeface="Milk Tea Font TH"/>
              </a:rPr>
              <a:t>Alonso Molina Zepeda</a:t>
            </a:r>
          </a:p>
          <a:p>
            <a:pPr algn="l">
              <a:lnSpc>
                <a:spcPts val="3014"/>
              </a:lnSpc>
            </a:pPr>
          </a:p>
        </p:txBody>
      </p:sp>
      <p:sp>
        <p:nvSpPr>
          <p:cNvPr name="TextBox 10" id="10"/>
          <p:cNvSpPr txBox="true"/>
          <p:nvPr/>
        </p:nvSpPr>
        <p:spPr>
          <a:xfrm rot="0">
            <a:off x="7511457" y="6809974"/>
            <a:ext cx="3267018" cy="15304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14"/>
              </a:lnSpc>
            </a:pPr>
            <a:r>
              <a:rPr lang="en-US" sz="2554" spc="-79">
                <a:solidFill>
                  <a:srgbClr val="FFFFFF"/>
                </a:solidFill>
                <a:latin typeface="Milk Tea Font TH"/>
                <a:ea typeface="Milk Tea Font TH"/>
                <a:cs typeface="Milk Tea Font TH"/>
                <a:sym typeface="Milk Tea Font TH"/>
              </a:rPr>
              <a:t>Profesor: </a:t>
            </a:r>
          </a:p>
          <a:p>
            <a:pPr algn="l">
              <a:lnSpc>
                <a:spcPts val="3014"/>
              </a:lnSpc>
            </a:pPr>
            <a:r>
              <a:rPr lang="en-US" sz="2554" spc="-79">
                <a:solidFill>
                  <a:srgbClr val="FFFFFF"/>
                </a:solidFill>
                <a:latin typeface="Milk Tea Font TH"/>
                <a:ea typeface="Milk Tea Font TH"/>
                <a:cs typeface="Milk Tea Font TH"/>
                <a:sym typeface="Milk Tea Font TH"/>
              </a:rPr>
              <a:t>Paulo Luis Francisco Quinsacara Jofré </a:t>
            </a:r>
          </a:p>
          <a:p>
            <a:pPr algn="l">
              <a:lnSpc>
                <a:spcPts val="3014"/>
              </a:lnSpc>
            </a:pPr>
          </a:p>
        </p:txBody>
      </p:sp>
      <p:grpSp>
        <p:nvGrpSpPr>
          <p:cNvPr name="Group 11" id="11"/>
          <p:cNvGrpSpPr/>
          <p:nvPr/>
        </p:nvGrpSpPr>
        <p:grpSpPr>
          <a:xfrm rot="0">
            <a:off x="734027" y="931907"/>
            <a:ext cx="5143921" cy="688806"/>
            <a:chOff x="0" y="0"/>
            <a:chExt cx="6858561" cy="918408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121839" cy="918408"/>
            </a:xfrm>
            <a:custGeom>
              <a:avLst/>
              <a:gdLst/>
              <a:ahLst/>
              <a:cxnLst/>
              <a:rect r="r" b="b" t="t" l="l"/>
              <a:pathLst>
                <a:path h="918408" w="2121839">
                  <a:moveTo>
                    <a:pt x="0" y="0"/>
                  </a:moveTo>
                  <a:lnTo>
                    <a:pt x="2121839" y="0"/>
                  </a:lnTo>
                  <a:lnTo>
                    <a:pt x="2121839" y="918408"/>
                  </a:lnTo>
                  <a:lnTo>
                    <a:pt x="0" y="91840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-38805" t="-53224" r="-35377" b="-52514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 rot="0">
              <a:off x="2286187" y="134211"/>
              <a:ext cx="4572374" cy="58331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743"/>
                </a:lnSpc>
              </a:pPr>
              <a:r>
                <a:rPr lang="en-US" sz="2599" spc="129">
                  <a:solidFill>
                    <a:srgbClr val="FFFFFF"/>
                  </a:solidFill>
                  <a:latin typeface="Hero Bold"/>
                  <a:ea typeface="Hero Bold"/>
                  <a:cs typeface="Hero Bold"/>
                  <a:sym typeface="Hero Bold"/>
                </a:rPr>
                <a:t>Club Entre Patitas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784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782452" y="6441185"/>
            <a:ext cx="12953696" cy="6467166"/>
          </a:xfrm>
          <a:custGeom>
            <a:avLst/>
            <a:gdLst/>
            <a:ahLst/>
            <a:cxnLst/>
            <a:rect r="r" b="b" t="t" l="l"/>
            <a:pathLst>
              <a:path h="6467166" w="12953696">
                <a:moveTo>
                  <a:pt x="0" y="0"/>
                </a:moveTo>
                <a:lnTo>
                  <a:pt x="12953696" y="0"/>
                </a:lnTo>
                <a:lnTo>
                  <a:pt x="12953696" y="6467166"/>
                </a:lnTo>
                <a:lnTo>
                  <a:pt x="0" y="64671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true" rot="0">
            <a:off x="-1193628" y="8708396"/>
            <a:ext cx="12953696" cy="6467166"/>
          </a:xfrm>
          <a:custGeom>
            <a:avLst/>
            <a:gdLst/>
            <a:ahLst/>
            <a:cxnLst/>
            <a:rect r="r" b="b" t="t" l="l"/>
            <a:pathLst>
              <a:path h="6467166" w="12953696">
                <a:moveTo>
                  <a:pt x="0" y="6467167"/>
                </a:moveTo>
                <a:lnTo>
                  <a:pt x="12953696" y="6467167"/>
                </a:lnTo>
                <a:lnTo>
                  <a:pt x="12953696" y="0"/>
                </a:lnTo>
                <a:lnTo>
                  <a:pt x="0" y="0"/>
                </a:lnTo>
                <a:lnTo>
                  <a:pt x="0" y="6467167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9497899" y="2164577"/>
            <a:ext cx="7093723" cy="7093723"/>
            <a:chOff x="0" y="0"/>
            <a:chExt cx="812800" cy="812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4"/>
              <a:stretch>
                <a:fillRect l="-26481" t="0" r="-26481" b="0"/>
              </a:stretch>
            </a:blipFill>
            <a:ln w="95250" cap="sq">
              <a:solidFill>
                <a:srgbClr val="FFFFFF"/>
              </a:solidFill>
              <a:prstDash val="solid"/>
              <a:miter/>
            </a:ln>
          </p:spPr>
        </p:sp>
      </p:grpSp>
      <p:grpSp>
        <p:nvGrpSpPr>
          <p:cNvPr name="Group 6" id="6"/>
          <p:cNvGrpSpPr/>
          <p:nvPr/>
        </p:nvGrpSpPr>
        <p:grpSpPr>
          <a:xfrm rot="0">
            <a:off x="7933505" y="2164577"/>
            <a:ext cx="3128789" cy="3128789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  <a:ln w="95250" cap="sq">
              <a:solidFill>
                <a:srgbClr val="FFFFFF"/>
              </a:solidFill>
              <a:prstDash val="solid"/>
              <a:miter/>
            </a:ln>
          </p:spPr>
        </p:sp>
      </p:grpSp>
      <p:sp>
        <p:nvSpPr>
          <p:cNvPr name="TextBox 8" id="8"/>
          <p:cNvSpPr txBox="true"/>
          <p:nvPr/>
        </p:nvSpPr>
        <p:spPr>
          <a:xfrm rot="0">
            <a:off x="1028700" y="4542408"/>
            <a:ext cx="7092946" cy="38070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068"/>
              </a:lnSpc>
            </a:pPr>
            <a:r>
              <a:rPr lang="en-US" sz="2600" spc="-80">
                <a:solidFill>
                  <a:srgbClr val="FFFFFF"/>
                </a:solidFill>
                <a:latin typeface="Milk Tea Font TH"/>
                <a:ea typeface="Milk Tea Font TH"/>
                <a:cs typeface="Milk Tea Font TH"/>
                <a:sym typeface="Milk Tea Font TH"/>
              </a:rPr>
              <a:t>1. Introducción </a:t>
            </a:r>
          </a:p>
          <a:p>
            <a:pPr algn="just">
              <a:lnSpc>
                <a:spcPts val="3068"/>
              </a:lnSpc>
            </a:pPr>
            <a:r>
              <a:rPr lang="en-US" sz="2600" spc="-80">
                <a:solidFill>
                  <a:srgbClr val="FFFFFF"/>
                </a:solidFill>
                <a:latin typeface="Milk Tea Font TH"/>
                <a:ea typeface="Milk Tea Font TH"/>
                <a:cs typeface="Milk Tea Font TH"/>
                <a:sym typeface="Milk Tea Font TH"/>
              </a:rPr>
              <a:t>2. Solución técnica y plan de incrementos </a:t>
            </a:r>
          </a:p>
          <a:p>
            <a:pPr algn="just">
              <a:lnSpc>
                <a:spcPts val="3068"/>
              </a:lnSpc>
            </a:pPr>
            <a:r>
              <a:rPr lang="en-US" sz="2600" spc="-80">
                <a:solidFill>
                  <a:srgbClr val="FFFFFF"/>
                </a:solidFill>
                <a:latin typeface="Milk Tea Font TH"/>
                <a:ea typeface="Milk Tea Font TH"/>
                <a:cs typeface="Milk Tea Font TH"/>
                <a:sym typeface="Milk Tea Font TH"/>
              </a:rPr>
              <a:t>3. Sobre el incremento</a:t>
            </a:r>
          </a:p>
          <a:p>
            <a:pPr algn="just">
              <a:lnSpc>
                <a:spcPts val="3068"/>
              </a:lnSpc>
            </a:pPr>
            <a:r>
              <a:rPr lang="en-US" sz="2600" spc="-80">
                <a:solidFill>
                  <a:srgbClr val="FFFFFF"/>
                </a:solidFill>
                <a:latin typeface="Milk Tea Font TH"/>
                <a:ea typeface="Milk Tea Font TH"/>
                <a:cs typeface="Milk Tea Font TH"/>
                <a:sym typeface="Milk Tea Font TH"/>
              </a:rPr>
              <a:t>4. Planificación por Incrementos y Casos de Uso</a:t>
            </a:r>
          </a:p>
          <a:p>
            <a:pPr algn="just">
              <a:lnSpc>
                <a:spcPts val="3068"/>
              </a:lnSpc>
            </a:pPr>
            <a:r>
              <a:rPr lang="en-US" sz="2600" spc="-80">
                <a:solidFill>
                  <a:srgbClr val="FFFFFF"/>
                </a:solidFill>
                <a:latin typeface="Milk Tea Font TH"/>
                <a:ea typeface="Milk Tea Font TH"/>
                <a:cs typeface="Milk Tea Font TH"/>
                <a:sym typeface="Milk Tea Font TH"/>
              </a:rPr>
              <a:t>5. SCRUM++</a:t>
            </a:r>
          </a:p>
          <a:p>
            <a:pPr algn="just">
              <a:lnSpc>
                <a:spcPts val="3068"/>
              </a:lnSpc>
            </a:pPr>
            <a:r>
              <a:rPr lang="en-US" sz="2600" spc="-80">
                <a:solidFill>
                  <a:srgbClr val="FFFFFF"/>
                </a:solidFill>
                <a:latin typeface="Milk Tea Font TH"/>
                <a:ea typeface="Milk Tea Font TH"/>
                <a:cs typeface="Milk Tea Font TH"/>
                <a:sym typeface="Milk Tea Font TH"/>
              </a:rPr>
              <a:t>6. Casos de uso</a:t>
            </a:r>
          </a:p>
          <a:p>
            <a:pPr algn="just">
              <a:lnSpc>
                <a:spcPts val="3068"/>
              </a:lnSpc>
            </a:pPr>
            <a:r>
              <a:rPr lang="en-US" sz="2600" spc="-80">
                <a:solidFill>
                  <a:srgbClr val="FFFFFF"/>
                </a:solidFill>
                <a:latin typeface="Milk Tea Font TH"/>
                <a:ea typeface="Milk Tea Font TH"/>
                <a:cs typeface="Milk Tea Font TH"/>
                <a:sym typeface="Milk Tea Font TH"/>
              </a:rPr>
              <a:t>7. Árbol de Navegación</a:t>
            </a:r>
          </a:p>
          <a:p>
            <a:pPr algn="just">
              <a:lnSpc>
                <a:spcPts val="3068"/>
              </a:lnSpc>
            </a:pPr>
            <a:r>
              <a:rPr lang="en-US" sz="2600" spc="-80">
                <a:solidFill>
                  <a:srgbClr val="FFFFFF"/>
                </a:solidFill>
                <a:latin typeface="Milk Tea Font TH"/>
                <a:ea typeface="Milk Tea Font TH"/>
                <a:cs typeface="Milk Tea Font TH"/>
                <a:sym typeface="Milk Tea Font TH"/>
              </a:rPr>
              <a:t>8. Sprint (Diagrama de clases)</a:t>
            </a:r>
          </a:p>
          <a:p>
            <a:pPr algn="just">
              <a:lnSpc>
                <a:spcPts val="3068"/>
              </a:lnSpc>
            </a:pPr>
            <a:r>
              <a:rPr lang="en-US" sz="2600" spc="-80">
                <a:solidFill>
                  <a:srgbClr val="FFFFFF"/>
                </a:solidFill>
                <a:latin typeface="Milk Tea Font TH"/>
                <a:ea typeface="Milk Tea Font TH"/>
                <a:cs typeface="Milk Tea Font TH"/>
                <a:sym typeface="Milk Tea Font TH"/>
              </a:rPr>
              <a:t>9. Vistas( Desarrollo y Lógica)</a:t>
            </a:r>
          </a:p>
          <a:p>
            <a:pPr algn="just">
              <a:lnSpc>
                <a:spcPts val="3068"/>
              </a:lnSpc>
            </a:pP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7933505" y="6004343"/>
            <a:ext cx="1571731" cy="2704053"/>
          </a:xfrm>
          <a:custGeom>
            <a:avLst/>
            <a:gdLst/>
            <a:ahLst/>
            <a:cxnLst/>
            <a:rect r="r" b="b" t="t" l="l"/>
            <a:pathLst>
              <a:path h="2704053" w="1571731">
                <a:moveTo>
                  <a:pt x="0" y="0"/>
                </a:moveTo>
                <a:lnTo>
                  <a:pt x="1571730" y="0"/>
                </a:lnTo>
                <a:lnTo>
                  <a:pt x="1571730" y="2704053"/>
                </a:lnTo>
                <a:lnTo>
                  <a:pt x="0" y="270405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true" flipV="false" rot="0">
            <a:off x="15923945" y="2376945"/>
            <a:ext cx="1571731" cy="2704053"/>
          </a:xfrm>
          <a:custGeom>
            <a:avLst/>
            <a:gdLst/>
            <a:ahLst/>
            <a:cxnLst/>
            <a:rect r="r" b="b" t="t" l="l"/>
            <a:pathLst>
              <a:path h="2704053" w="1571731">
                <a:moveTo>
                  <a:pt x="1571731" y="0"/>
                </a:moveTo>
                <a:lnTo>
                  <a:pt x="0" y="0"/>
                </a:lnTo>
                <a:lnTo>
                  <a:pt x="0" y="2704053"/>
                </a:lnTo>
                <a:lnTo>
                  <a:pt x="1571731" y="2704053"/>
                </a:lnTo>
                <a:lnTo>
                  <a:pt x="1571731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734027" y="931907"/>
            <a:ext cx="5143921" cy="688806"/>
            <a:chOff x="0" y="0"/>
            <a:chExt cx="6858561" cy="918408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121839" cy="918408"/>
            </a:xfrm>
            <a:custGeom>
              <a:avLst/>
              <a:gdLst/>
              <a:ahLst/>
              <a:cxnLst/>
              <a:rect r="r" b="b" t="t" l="l"/>
              <a:pathLst>
                <a:path h="918408" w="2121839">
                  <a:moveTo>
                    <a:pt x="0" y="0"/>
                  </a:moveTo>
                  <a:lnTo>
                    <a:pt x="2121839" y="0"/>
                  </a:lnTo>
                  <a:lnTo>
                    <a:pt x="2121839" y="918408"/>
                  </a:lnTo>
                  <a:lnTo>
                    <a:pt x="0" y="91840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-38805" t="-53224" r="-35377" b="-52514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 rot="0">
              <a:off x="2286187" y="134211"/>
              <a:ext cx="4572374" cy="58331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743"/>
                </a:lnSpc>
              </a:pPr>
              <a:r>
                <a:rPr lang="en-US" sz="2599" spc="129">
                  <a:solidFill>
                    <a:srgbClr val="FFFFFF"/>
                  </a:solidFill>
                  <a:latin typeface="Hero Bold"/>
                  <a:ea typeface="Hero Bold"/>
                  <a:cs typeface="Hero Bold"/>
                  <a:sym typeface="Hero Bold"/>
                </a:rPr>
                <a:t>Club Entre Patitas</a:t>
              </a: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1028700" y="2759941"/>
            <a:ext cx="6706743" cy="16443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191"/>
              </a:lnSpc>
            </a:pPr>
            <a:r>
              <a:rPr lang="en-US" sz="7199" b="true">
                <a:solidFill>
                  <a:srgbClr val="FFFFFF"/>
                </a:solidFill>
                <a:latin typeface="Dynapuff Semi-Bold"/>
                <a:ea typeface="Dynapuff Semi-Bold"/>
                <a:cs typeface="Dynapuff Semi-Bold"/>
                <a:sym typeface="Dynapuff Semi-Bold"/>
              </a:rPr>
              <a:t>Índice de Contenidos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784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5420916" y="4630954"/>
            <a:ext cx="3287577" cy="5656046"/>
          </a:xfrm>
          <a:custGeom>
            <a:avLst/>
            <a:gdLst/>
            <a:ahLst/>
            <a:cxnLst/>
            <a:rect r="r" b="b" t="t" l="l"/>
            <a:pathLst>
              <a:path h="5656046" w="3287577">
                <a:moveTo>
                  <a:pt x="3287577" y="0"/>
                </a:moveTo>
                <a:lnTo>
                  <a:pt x="0" y="0"/>
                </a:lnTo>
                <a:lnTo>
                  <a:pt x="0" y="5656046"/>
                </a:lnTo>
                <a:lnTo>
                  <a:pt x="3287577" y="5656046"/>
                </a:lnTo>
                <a:lnTo>
                  <a:pt x="328757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0">
            <a:off x="-2612204" y="6589933"/>
            <a:ext cx="12953696" cy="6467166"/>
          </a:xfrm>
          <a:custGeom>
            <a:avLst/>
            <a:gdLst/>
            <a:ahLst/>
            <a:cxnLst/>
            <a:rect r="r" b="b" t="t" l="l"/>
            <a:pathLst>
              <a:path h="6467166" w="12953696">
                <a:moveTo>
                  <a:pt x="12953696" y="0"/>
                </a:moveTo>
                <a:lnTo>
                  <a:pt x="0" y="0"/>
                </a:lnTo>
                <a:lnTo>
                  <a:pt x="0" y="6467166"/>
                </a:lnTo>
                <a:lnTo>
                  <a:pt x="12953696" y="6467166"/>
                </a:lnTo>
                <a:lnTo>
                  <a:pt x="12953696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0">
            <a:off x="-170665" y="1964305"/>
            <a:ext cx="3287577" cy="5656046"/>
          </a:xfrm>
          <a:custGeom>
            <a:avLst/>
            <a:gdLst/>
            <a:ahLst/>
            <a:cxnLst/>
            <a:rect r="r" b="b" t="t" l="l"/>
            <a:pathLst>
              <a:path h="5656046" w="3287577">
                <a:moveTo>
                  <a:pt x="3287577" y="0"/>
                </a:moveTo>
                <a:lnTo>
                  <a:pt x="0" y="0"/>
                </a:lnTo>
                <a:lnTo>
                  <a:pt x="0" y="5656046"/>
                </a:lnTo>
                <a:lnTo>
                  <a:pt x="3287577" y="5656046"/>
                </a:lnTo>
                <a:lnTo>
                  <a:pt x="328757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0">
            <a:off x="7500099" y="8177881"/>
            <a:ext cx="12953696" cy="6467166"/>
          </a:xfrm>
          <a:custGeom>
            <a:avLst/>
            <a:gdLst/>
            <a:ahLst/>
            <a:cxnLst/>
            <a:rect r="r" b="b" t="t" l="l"/>
            <a:pathLst>
              <a:path h="6467166" w="12953696">
                <a:moveTo>
                  <a:pt x="12953696" y="0"/>
                </a:moveTo>
                <a:lnTo>
                  <a:pt x="0" y="0"/>
                </a:lnTo>
                <a:lnTo>
                  <a:pt x="0" y="6467167"/>
                </a:lnTo>
                <a:lnTo>
                  <a:pt x="12953696" y="6467167"/>
                </a:lnTo>
                <a:lnTo>
                  <a:pt x="12953696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734027" y="931907"/>
            <a:ext cx="5143921" cy="688806"/>
            <a:chOff x="0" y="0"/>
            <a:chExt cx="6858561" cy="91840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121839" cy="918408"/>
            </a:xfrm>
            <a:custGeom>
              <a:avLst/>
              <a:gdLst/>
              <a:ahLst/>
              <a:cxnLst/>
              <a:rect r="r" b="b" t="t" l="l"/>
              <a:pathLst>
                <a:path h="918408" w="2121839">
                  <a:moveTo>
                    <a:pt x="0" y="0"/>
                  </a:moveTo>
                  <a:lnTo>
                    <a:pt x="2121839" y="0"/>
                  </a:lnTo>
                  <a:lnTo>
                    <a:pt x="2121839" y="918408"/>
                  </a:lnTo>
                  <a:lnTo>
                    <a:pt x="0" y="91840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38805" t="-53224" r="-35377" b="-52514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 rot="0">
              <a:off x="2286187" y="134211"/>
              <a:ext cx="4572374" cy="58331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743"/>
                </a:lnSpc>
              </a:pPr>
              <a:r>
                <a:rPr lang="en-US" sz="2599" spc="129">
                  <a:solidFill>
                    <a:srgbClr val="FFFFFF"/>
                  </a:solidFill>
                  <a:latin typeface="Hero Bold"/>
                  <a:ea typeface="Hero Bold"/>
                  <a:cs typeface="Hero Bold"/>
                  <a:sym typeface="Hero Bold"/>
                </a:rPr>
                <a:t>Club Entre Patitas</a:t>
              </a: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359307" y="1575209"/>
            <a:ext cx="8784693" cy="8711791"/>
          </a:xfrm>
          <a:custGeom>
            <a:avLst/>
            <a:gdLst/>
            <a:ahLst/>
            <a:cxnLst/>
            <a:rect r="r" b="b" t="t" l="l"/>
            <a:pathLst>
              <a:path h="8711791" w="8784693">
                <a:moveTo>
                  <a:pt x="0" y="0"/>
                </a:moveTo>
                <a:lnTo>
                  <a:pt x="8784693" y="0"/>
                </a:lnTo>
                <a:lnTo>
                  <a:pt x="8784693" y="8711791"/>
                </a:lnTo>
                <a:lnTo>
                  <a:pt x="0" y="871179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9653643" y="2080471"/>
            <a:ext cx="7605657" cy="8953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49"/>
              </a:lnSpc>
            </a:pPr>
            <a:r>
              <a:rPr lang="en-US" sz="7499" b="true">
                <a:solidFill>
                  <a:srgbClr val="FFFFFF"/>
                </a:solidFill>
                <a:latin typeface="Dynapuff Semi-Bold"/>
                <a:ea typeface="Dynapuff Semi-Bold"/>
                <a:cs typeface="Dynapuff Semi-Bold"/>
                <a:sym typeface="Dynapuff Semi-Bold"/>
              </a:rPr>
              <a:t>Introducción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144000" y="3107303"/>
            <a:ext cx="7807857" cy="60930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561341" indent="-280670" lvl="1">
              <a:lnSpc>
                <a:spcPts val="3068"/>
              </a:lnSpc>
              <a:buFont typeface="Arial"/>
              <a:buChar char="•"/>
            </a:pPr>
            <a:r>
              <a:rPr lang="en-US" sz="2600" spc="-80">
                <a:solidFill>
                  <a:srgbClr val="FFFFFF"/>
                </a:solidFill>
                <a:latin typeface="Milk Tea Font TH"/>
                <a:ea typeface="Milk Tea Font TH"/>
                <a:cs typeface="Milk Tea Font TH"/>
                <a:sym typeface="Milk Tea Font TH"/>
              </a:rPr>
              <a:t>Avance: 95% de la plataforma veterinaria completada (hasta CU53).</a:t>
            </a:r>
          </a:p>
          <a:p>
            <a:pPr algn="just">
              <a:lnSpc>
                <a:spcPts val="3068"/>
              </a:lnSpc>
            </a:pPr>
          </a:p>
          <a:p>
            <a:pPr algn="just" marL="561341" indent="-280670" lvl="1">
              <a:lnSpc>
                <a:spcPts val="3068"/>
              </a:lnSpc>
              <a:buFont typeface="Arial"/>
              <a:buChar char="•"/>
            </a:pPr>
            <a:r>
              <a:rPr lang="en-US" sz="2600" spc="-80">
                <a:solidFill>
                  <a:srgbClr val="FFFFFF"/>
                </a:solidFill>
                <a:latin typeface="Milk Tea Font TH"/>
                <a:ea typeface="Milk Tea Font TH"/>
                <a:cs typeface="Milk Tea Font TH"/>
                <a:sym typeface="Milk Tea Font TH"/>
              </a:rPr>
              <a:t>Me</a:t>
            </a:r>
            <a:r>
              <a:rPr lang="en-US" sz="2600" spc="-80">
                <a:solidFill>
                  <a:srgbClr val="FFFFFF"/>
                </a:solidFill>
                <a:latin typeface="Milk Tea Font TH"/>
                <a:ea typeface="Milk Tea Font TH"/>
                <a:cs typeface="Milk Tea Font TH"/>
                <a:sym typeface="Milk Tea Font TH"/>
              </a:rPr>
              <a:t>ta: Digitalización total de la gestión clínica y administrativa.</a:t>
            </a:r>
          </a:p>
          <a:p>
            <a:pPr algn="just">
              <a:lnSpc>
                <a:spcPts val="3068"/>
              </a:lnSpc>
            </a:pPr>
          </a:p>
          <a:p>
            <a:pPr algn="just" marL="561341" indent="-280670" lvl="1">
              <a:lnSpc>
                <a:spcPts val="3068"/>
              </a:lnSpc>
              <a:buFont typeface="Arial"/>
              <a:buChar char="•"/>
            </a:pPr>
            <a:r>
              <a:rPr lang="en-US" sz="2600" spc="-80">
                <a:solidFill>
                  <a:srgbClr val="FFFFFF"/>
                </a:solidFill>
                <a:latin typeface="Milk Tea Font TH"/>
                <a:ea typeface="Milk Tea Font TH"/>
                <a:cs typeface="Milk Tea Font TH"/>
                <a:sym typeface="Milk Tea Font TH"/>
              </a:rPr>
              <a:t>Imp</a:t>
            </a:r>
            <a:r>
              <a:rPr lang="en-US" sz="2600" spc="-80">
                <a:solidFill>
                  <a:srgbClr val="FFFFFF"/>
                </a:solidFill>
                <a:latin typeface="Milk Tea Font TH"/>
                <a:ea typeface="Milk Tea Font TH"/>
                <a:cs typeface="Milk Tea Font TH"/>
                <a:sym typeface="Milk Tea Font TH"/>
              </a:rPr>
              <a:t>acto: Eliminación del riesgo de pérdida de registros en papel y optimización del flujo de trabajo.</a:t>
            </a:r>
          </a:p>
          <a:p>
            <a:pPr algn="just">
              <a:lnSpc>
                <a:spcPts val="3068"/>
              </a:lnSpc>
            </a:pPr>
          </a:p>
          <a:p>
            <a:pPr algn="just" marL="561341" indent="-280670" lvl="1">
              <a:lnSpc>
                <a:spcPts val="3068"/>
              </a:lnSpc>
              <a:buFont typeface="Arial"/>
              <a:buChar char="•"/>
            </a:pPr>
            <a:r>
              <a:rPr lang="en-US" sz="2600" spc="-80">
                <a:solidFill>
                  <a:srgbClr val="FFFFFF"/>
                </a:solidFill>
                <a:latin typeface="Milk Tea Font TH"/>
                <a:ea typeface="Milk Tea Font TH"/>
                <a:cs typeface="Milk Tea Font TH"/>
                <a:sym typeface="Milk Tea Font TH"/>
              </a:rPr>
              <a:t>Garantía: Alta seguridad, trazabilidad y disponibilidad de datos.</a:t>
            </a:r>
          </a:p>
          <a:p>
            <a:pPr algn="just">
              <a:lnSpc>
                <a:spcPts val="3068"/>
              </a:lnSpc>
            </a:pPr>
          </a:p>
          <a:p>
            <a:pPr algn="just" marL="561341" indent="-280670" lvl="1">
              <a:lnSpc>
                <a:spcPts val="3068"/>
              </a:lnSpc>
              <a:buFont typeface="Arial"/>
              <a:buChar char="•"/>
            </a:pPr>
            <a:r>
              <a:rPr lang="en-US" sz="2600" spc="-80">
                <a:solidFill>
                  <a:srgbClr val="FFFFFF"/>
                </a:solidFill>
                <a:latin typeface="Milk Tea Font TH"/>
                <a:ea typeface="Milk Tea Font TH"/>
                <a:cs typeface="Milk Tea Font TH"/>
                <a:sym typeface="Milk Tea Font TH"/>
              </a:rPr>
              <a:t>Entregables: Documentación de diseño completa y pruebas validadas.</a:t>
            </a:r>
          </a:p>
          <a:p>
            <a:pPr algn="just">
              <a:lnSpc>
                <a:spcPts val="3068"/>
              </a:lnSpc>
            </a:pPr>
          </a:p>
          <a:p>
            <a:pPr algn="just">
              <a:lnSpc>
                <a:spcPts val="3068"/>
              </a:lnSpc>
            </a:pP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784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true" rot="0">
            <a:off x="-210130" y="8473592"/>
            <a:ext cx="12953696" cy="6467166"/>
          </a:xfrm>
          <a:custGeom>
            <a:avLst/>
            <a:gdLst/>
            <a:ahLst/>
            <a:cxnLst/>
            <a:rect r="r" b="b" t="t" l="l"/>
            <a:pathLst>
              <a:path h="6467166" w="12953696">
                <a:moveTo>
                  <a:pt x="12953696" y="6467166"/>
                </a:moveTo>
                <a:lnTo>
                  <a:pt x="0" y="6467166"/>
                </a:lnTo>
                <a:lnTo>
                  <a:pt x="0" y="0"/>
                </a:lnTo>
                <a:lnTo>
                  <a:pt x="12953696" y="0"/>
                </a:lnTo>
                <a:lnTo>
                  <a:pt x="12953696" y="6467166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8041869" y="7121565"/>
            <a:ext cx="1571731" cy="2704053"/>
          </a:xfrm>
          <a:custGeom>
            <a:avLst/>
            <a:gdLst/>
            <a:ahLst/>
            <a:cxnLst/>
            <a:rect r="r" b="b" t="t" l="l"/>
            <a:pathLst>
              <a:path h="2704053" w="1571731">
                <a:moveTo>
                  <a:pt x="0" y="0"/>
                </a:moveTo>
                <a:lnTo>
                  <a:pt x="1571731" y="0"/>
                </a:lnTo>
                <a:lnTo>
                  <a:pt x="1571731" y="2704053"/>
                </a:lnTo>
                <a:lnTo>
                  <a:pt x="0" y="270405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true" rot="0">
            <a:off x="9661295" y="8069647"/>
            <a:ext cx="12953696" cy="6467166"/>
          </a:xfrm>
          <a:custGeom>
            <a:avLst/>
            <a:gdLst/>
            <a:ahLst/>
            <a:cxnLst/>
            <a:rect r="r" b="b" t="t" l="l"/>
            <a:pathLst>
              <a:path h="6467166" w="12953696">
                <a:moveTo>
                  <a:pt x="12953696" y="6467167"/>
                </a:moveTo>
                <a:lnTo>
                  <a:pt x="0" y="6467167"/>
                </a:lnTo>
                <a:lnTo>
                  <a:pt x="0" y="0"/>
                </a:lnTo>
                <a:lnTo>
                  <a:pt x="12953696" y="0"/>
                </a:lnTo>
                <a:lnTo>
                  <a:pt x="12953696" y="6467167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6591623" y="1926970"/>
            <a:ext cx="1589936" cy="2735374"/>
          </a:xfrm>
          <a:custGeom>
            <a:avLst/>
            <a:gdLst/>
            <a:ahLst/>
            <a:cxnLst/>
            <a:rect r="r" b="b" t="t" l="l"/>
            <a:pathLst>
              <a:path h="2735374" w="1589936">
                <a:moveTo>
                  <a:pt x="0" y="0"/>
                </a:moveTo>
                <a:lnTo>
                  <a:pt x="1589936" y="0"/>
                </a:lnTo>
                <a:lnTo>
                  <a:pt x="1589936" y="2735374"/>
                </a:lnTo>
                <a:lnTo>
                  <a:pt x="0" y="273537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12248407" y="2367653"/>
            <a:ext cx="5701994" cy="5701994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6"/>
              <a:stretch>
                <a:fillRect l="-38888" t="0" r="-38888" b="0"/>
              </a:stretch>
            </a:blipFill>
            <a:ln w="142875" cap="sq">
              <a:solidFill>
                <a:srgbClr val="FFFFFF"/>
              </a:solidFill>
              <a:prstDash val="solid"/>
              <a:miter/>
            </a:ln>
          </p:spPr>
        </p:sp>
      </p:grpSp>
      <p:grpSp>
        <p:nvGrpSpPr>
          <p:cNvPr name="Group 8" id="8"/>
          <p:cNvGrpSpPr/>
          <p:nvPr/>
        </p:nvGrpSpPr>
        <p:grpSpPr>
          <a:xfrm rot="0">
            <a:off x="12248407" y="5948564"/>
            <a:ext cx="2814955" cy="2814955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7"/>
              <a:stretch>
                <a:fillRect l="-25107" t="0" r="-25107" b="0"/>
              </a:stretch>
            </a:blipFill>
            <a:ln w="142875" cap="sq">
              <a:solidFill>
                <a:srgbClr val="FFFFFF"/>
              </a:solidFill>
              <a:prstDash val="solid"/>
              <a:miter/>
            </a:ln>
          </p:spPr>
        </p:sp>
      </p:grpSp>
      <p:grpSp>
        <p:nvGrpSpPr>
          <p:cNvPr name="Group 10" id="10"/>
          <p:cNvGrpSpPr/>
          <p:nvPr/>
        </p:nvGrpSpPr>
        <p:grpSpPr>
          <a:xfrm rot="0">
            <a:off x="10267475" y="931907"/>
            <a:ext cx="3609177" cy="3609177"/>
            <a:chOff x="0" y="0"/>
            <a:chExt cx="812800" cy="812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8"/>
              <a:stretch>
                <a:fillRect l="-24906" t="0" r="-24906" b="0"/>
              </a:stretch>
            </a:blipFill>
            <a:ln w="142875" cap="sq">
              <a:solidFill>
                <a:srgbClr val="FFFFFF"/>
              </a:solidFill>
              <a:prstDash val="solid"/>
              <a:miter/>
            </a:ln>
          </p:spPr>
        </p:sp>
      </p:grpSp>
      <p:grpSp>
        <p:nvGrpSpPr>
          <p:cNvPr name="Group 12" id="12"/>
          <p:cNvGrpSpPr/>
          <p:nvPr/>
        </p:nvGrpSpPr>
        <p:grpSpPr>
          <a:xfrm rot="0">
            <a:off x="734027" y="931907"/>
            <a:ext cx="5143921" cy="688806"/>
            <a:chOff x="0" y="0"/>
            <a:chExt cx="6858561" cy="918408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121839" cy="918408"/>
            </a:xfrm>
            <a:custGeom>
              <a:avLst/>
              <a:gdLst/>
              <a:ahLst/>
              <a:cxnLst/>
              <a:rect r="r" b="b" t="t" l="l"/>
              <a:pathLst>
                <a:path h="918408" w="2121839">
                  <a:moveTo>
                    <a:pt x="0" y="0"/>
                  </a:moveTo>
                  <a:lnTo>
                    <a:pt x="2121839" y="0"/>
                  </a:lnTo>
                  <a:lnTo>
                    <a:pt x="2121839" y="918408"/>
                  </a:lnTo>
                  <a:lnTo>
                    <a:pt x="0" y="91840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-38805" t="-53224" r="-35377" b="-52514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 rot="0">
              <a:off x="2286187" y="134211"/>
              <a:ext cx="4572374" cy="58331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743"/>
                </a:lnSpc>
              </a:pPr>
              <a:r>
                <a:rPr lang="en-US" sz="2599" spc="129">
                  <a:solidFill>
                    <a:srgbClr val="FFFFFF"/>
                  </a:solidFill>
                  <a:latin typeface="Hero Bold"/>
                  <a:ea typeface="Hero Bold"/>
                  <a:cs typeface="Hero Bold"/>
                  <a:sym typeface="Hero Bold"/>
                </a:rPr>
                <a:t>Club Entre Patitas</a:t>
              </a: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1028700" y="2399309"/>
            <a:ext cx="8852572" cy="8953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49"/>
              </a:lnSpc>
            </a:pPr>
            <a:r>
              <a:rPr lang="en-US" sz="7499" b="true">
                <a:solidFill>
                  <a:srgbClr val="FFFFFF"/>
                </a:solidFill>
                <a:latin typeface="Dynapuff Semi-Bold"/>
                <a:ea typeface="Dynapuff Semi-Bold"/>
                <a:cs typeface="Dynapuff Semi-Bold"/>
                <a:sym typeface="Dynapuff Semi-Bold"/>
              </a:rPr>
              <a:t>Solución</a:t>
            </a:r>
            <a:r>
              <a:rPr lang="en-US" sz="7499" b="true">
                <a:solidFill>
                  <a:srgbClr val="FFFFFF"/>
                </a:solidFill>
                <a:latin typeface="Dynapuff Semi-Bold"/>
                <a:ea typeface="Dynapuff Semi-Bold"/>
                <a:cs typeface="Dynapuff Semi-Bold"/>
                <a:sym typeface="Dynapuff Semi-Bold"/>
              </a:rPr>
              <a:t> Técnica 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734027" y="3488066"/>
            <a:ext cx="9990380" cy="53310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61341" indent="-280670" lvl="1">
              <a:lnSpc>
                <a:spcPts val="3068"/>
              </a:lnSpc>
              <a:buFont typeface="Arial"/>
              <a:buChar char="•"/>
            </a:pPr>
            <a:r>
              <a:rPr lang="en-US" sz="2600" spc="-80">
                <a:solidFill>
                  <a:srgbClr val="FFFFFF"/>
                </a:solidFill>
                <a:latin typeface="Milk Tea Font TH"/>
                <a:ea typeface="Milk Tea Font TH"/>
                <a:cs typeface="Milk Tea Font TH"/>
                <a:sym typeface="Milk Tea Font TH"/>
              </a:rPr>
              <a:t>El Incremento 3 de la plataforma médica del Club Entre Patitas alcanza el 95% de la funcionalidad (hasta CU53), transformándola en un sistema operativo integral. El objetivo principal es digitalizar y centralizar la gestión para eliminar la pérdida de historiales en papel. Se añadieron funcionalidades clave para la comunicación clínica-tutor, como la firma digital de documentos (asegurando trazabilidad legal), mensajería interna y notificaciones personalizadas.</a:t>
            </a:r>
          </a:p>
          <a:p>
            <a:pPr algn="l">
              <a:lnSpc>
                <a:spcPts val="3068"/>
              </a:lnSpc>
            </a:pPr>
          </a:p>
          <a:p>
            <a:pPr algn="l" marL="561341" indent="-280670" lvl="1">
              <a:lnSpc>
                <a:spcPts val="3068"/>
              </a:lnSpc>
              <a:buFont typeface="Arial"/>
              <a:buChar char="•"/>
            </a:pPr>
            <a:r>
              <a:rPr lang="en-US" sz="2600" spc="-80">
                <a:solidFill>
                  <a:srgbClr val="FFFFFF"/>
                </a:solidFill>
                <a:latin typeface="Milk Tea Font TH"/>
                <a:ea typeface="Milk Tea Font TH"/>
                <a:cs typeface="Milk Tea Font TH"/>
                <a:sym typeface="Milk Tea Font TH"/>
              </a:rPr>
              <a:t>El sistema ha alcanzado un alto nivel de madurez técnica y funcional, listo para iniciar la fase de pruebas piloto y operación real. Con la metodología Scrum++, se garantiza un entorno digital seguro, escalable y eficiente, capaz de optimizar los tiempos de atención y mejorar la seguridad de los datos.</a:t>
            </a:r>
          </a:p>
          <a:p>
            <a:pPr algn="l">
              <a:lnSpc>
                <a:spcPts val="3068"/>
              </a:lnSpc>
            </a:pP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784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true" rot="0">
            <a:off x="8214949" y="8724122"/>
            <a:ext cx="12953696" cy="6467166"/>
          </a:xfrm>
          <a:custGeom>
            <a:avLst/>
            <a:gdLst/>
            <a:ahLst/>
            <a:cxnLst/>
            <a:rect r="r" b="b" t="t" l="l"/>
            <a:pathLst>
              <a:path h="6467166" w="12953696">
                <a:moveTo>
                  <a:pt x="12953696" y="6467166"/>
                </a:moveTo>
                <a:lnTo>
                  <a:pt x="0" y="6467166"/>
                </a:lnTo>
                <a:lnTo>
                  <a:pt x="0" y="0"/>
                </a:lnTo>
                <a:lnTo>
                  <a:pt x="12953696" y="0"/>
                </a:lnTo>
                <a:lnTo>
                  <a:pt x="12953696" y="6467166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0">
            <a:off x="-1868510" y="8724122"/>
            <a:ext cx="12953696" cy="6467166"/>
          </a:xfrm>
          <a:custGeom>
            <a:avLst/>
            <a:gdLst/>
            <a:ahLst/>
            <a:cxnLst/>
            <a:rect r="r" b="b" t="t" l="l"/>
            <a:pathLst>
              <a:path h="6467166" w="12953696">
                <a:moveTo>
                  <a:pt x="12953695" y="6467166"/>
                </a:moveTo>
                <a:lnTo>
                  <a:pt x="0" y="6467166"/>
                </a:lnTo>
                <a:lnTo>
                  <a:pt x="0" y="0"/>
                </a:lnTo>
                <a:lnTo>
                  <a:pt x="12953695" y="0"/>
                </a:lnTo>
                <a:lnTo>
                  <a:pt x="12953695" y="6467166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0">
            <a:off x="0" y="6771497"/>
            <a:ext cx="1526993" cy="2627085"/>
          </a:xfrm>
          <a:custGeom>
            <a:avLst/>
            <a:gdLst/>
            <a:ahLst/>
            <a:cxnLst/>
            <a:rect r="r" b="b" t="t" l="l"/>
            <a:pathLst>
              <a:path h="2627085" w="1526993">
                <a:moveTo>
                  <a:pt x="1526993" y="0"/>
                </a:moveTo>
                <a:lnTo>
                  <a:pt x="0" y="0"/>
                </a:lnTo>
                <a:lnTo>
                  <a:pt x="0" y="2627085"/>
                </a:lnTo>
                <a:lnTo>
                  <a:pt x="1526993" y="2627085"/>
                </a:lnTo>
                <a:lnTo>
                  <a:pt x="1526993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7259300" y="3183290"/>
            <a:ext cx="1382011" cy="2377654"/>
          </a:xfrm>
          <a:custGeom>
            <a:avLst/>
            <a:gdLst/>
            <a:ahLst/>
            <a:cxnLst/>
            <a:rect r="r" b="b" t="t" l="l"/>
            <a:pathLst>
              <a:path h="2377654" w="1382011">
                <a:moveTo>
                  <a:pt x="0" y="0"/>
                </a:moveTo>
                <a:lnTo>
                  <a:pt x="1382011" y="0"/>
                </a:lnTo>
                <a:lnTo>
                  <a:pt x="1382011" y="2377654"/>
                </a:lnTo>
                <a:lnTo>
                  <a:pt x="0" y="237765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2107373" y="1857518"/>
            <a:ext cx="14073255" cy="25145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449"/>
              </a:lnSpc>
            </a:pPr>
            <a:r>
              <a:rPr lang="en-US" b="true" sz="7499" spc="-359">
                <a:solidFill>
                  <a:srgbClr val="FFFFFF"/>
                </a:solidFill>
                <a:latin typeface="Dynapuff Semi-Bold"/>
                <a:ea typeface="Dynapuff Semi-Bold"/>
                <a:cs typeface="Dynapuff Semi-Bold"/>
                <a:sym typeface="Dynapuff Semi-Bold"/>
              </a:rPr>
              <a:t>Planificación por Incrementos y Casos de Uso</a:t>
            </a:r>
          </a:p>
          <a:p>
            <a:pPr algn="ctr">
              <a:lnSpc>
                <a:spcPts val="6449"/>
              </a:lnSpc>
            </a:pPr>
          </a:p>
        </p:txBody>
      </p:sp>
      <p:grpSp>
        <p:nvGrpSpPr>
          <p:cNvPr name="Group 7" id="7"/>
          <p:cNvGrpSpPr/>
          <p:nvPr/>
        </p:nvGrpSpPr>
        <p:grpSpPr>
          <a:xfrm rot="0">
            <a:off x="734027" y="931907"/>
            <a:ext cx="5143921" cy="688806"/>
            <a:chOff x="0" y="0"/>
            <a:chExt cx="6858561" cy="918408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121839" cy="918408"/>
            </a:xfrm>
            <a:custGeom>
              <a:avLst/>
              <a:gdLst/>
              <a:ahLst/>
              <a:cxnLst/>
              <a:rect r="r" b="b" t="t" l="l"/>
              <a:pathLst>
                <a:path h="918408" w="2121839">
                  <a:moveTo>
                    <a:pt x="0" y="0"/>
                  </a:moveTo>
                  <a:lnTo>
                    <a:pt x="2121839" y="0"/>
                  </a:lnTo>
                  <a:lnTo>
                    <a:pt x="2121839" y="918408"/>
                  </a:lnTo>
                  <a:lnTo>
                    <a:pt x="0" y="91840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38805" t="-53224" r="-35377" b="-52514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 rot="0">
              <a:off x="2286187" y="134211"/>
              <a:ext cx="4572374" cy="58331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743"/>
                </a:lnSpc>
              </a:pPr>
              <a:r>
                <a:rPr lang="en-US" sz="2599" spc="129">
                  <a:solidFill>
                    <a:srgbClr val="FFFFFF"/>
                  </a:solidFill>
                  <a:latin typeface="Hero Bold"/>
                  <a:ea typeface="Hero Bold"/>
                  <a:cs typeface="Hero Bold"/>
                  <a:sym typeface="Hero Bold"/>
                </a:rPr>
                <a:t>Club Entre Patitas</a:t>
              </a:r>
            </a:p>
          </p:txBody>
        </p:sp>
      </p:grpSp>
      <p:graphicFrame>
        <p:nvGraphicFramePr>
          <p:cNvPr name="Object 10" id="10"/>
          <p:cNvGraphicFramePr/>
          <p:nvPr/>
        </p:nvGraphicFramePr>
        <p:xfrm>
          <a:off x="918257" y="3614606"/>
          <a:ext cx="16230600" cy="5133058"/>
        </p:xfrm>
        <a:graphic>
          <a:graphicData uri="http://schemas.openxmlformats.org/presentationml/2006/ole">
            <p:oleObj imgW="19469100" imgH="8382000" r:id="rId8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7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784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9704247" y="7724460"/>
            <a:ext cx="12953696" cy="6467166"/>
          </a:xfrm>
          <a:custGeom>
            <a:avLst/>
            <a:gdLst/>
            <a:ahLst/>
            <a:cxnLst/>
            <a:rect r="r" b="b" t="t" l="l"/>
            <a:pathLst>
              <a:path h="6467166" w="12953696">
                <a:moveTo>
                  <a:pt x="0" y="0"/>
                </a:moveTo>
                <a:lnTo>
                  <a:pt x="12953696" y="0"/>
                </a:lnTo>
                <a:lnTo>
                  <a:pt x="12953696" y="6467167"/>
                </a:lnTo>
                <a:lnTo>
                  <a:pt x="0" y="646716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28700" y="8019707"/>
            <a:ext cx="12953696" cy="6467166"/>
          </a:xfrm>
          <a:custGeom>
            <a:avLst/>
            <a:gdLst/>
            <a:ahLst/>
            <a:cxnLst/>
            <a:rect r="r" b="b" t="t" l="l"/>
            <a:pathLst>
              <a:path h="6467166" w="12953696">
                <a:moveTo>
                  <a:pt x="0" y="0"/>
                </a:moveTo>
                <a:lnTo>
                  <a:pt x="12953696" y="0"/>
                </a:lnTo>
                <a:lnTo>
                  <a:pt x="12953696" y="6467166"/>
                </a:lnTo>
                <a:lnTo>
                  <a:pt x="0" y="64671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7646847" y="8314953"/>
            <a:ext cx="12953696" cy="6467166"/>
          </a:xfrm>
          <a:custGeom>
            <a:avLst/>
            <a:gdLst/>
            <a:ahLst/>
            <a:cxnLst/>
            <a:rect r="r" b="b" t="t" l="l"/>
            <a:pathLst>
              <a:path h="6467166" w="12953696">
                <a:moveTo>
                  <a:pt x="0" y="0"/>
                </a:moveTo>
                <a:lnTo>
                  <a:pt x="12953696" y="0"/>
                </a:lnTo>
                <a:lnTo>
                  <a:pt x="12953696" y="6467167"/>
                </a:lnTo>
                <a:lnTo>
                  <a:pt x="0" y="646716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5933817" y="5610900"/>
            <a:ext cx="1571731" cy="2704053"/>
          </a:xfrm>
          <a:custGeom>
            <a:avLst/>
            <a:gdLst/>
            <a:ahLst/>
            <a:cxnLst/>
            <a:rect r="r" b="b" t="t" l="l"/>
            <a:pathLst>
              <a:path h="2704053" w="1571731">
                <a:moveTo>
                  <a:pt x="0" y="0"/>
                </a:moveTo>
                <a:lnTo>
                  <a:pt x="1571731" y="0"/>
                </a:lnTo>
                <a:lnTo>
                  <a:pt x="1571731" y="2704053"/>
                </a:lnTo>
                <a:lnTo>
                  <a:pt x="0" y="270405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false" rot="0">
            <a:off x="345817" y="2303760"/>
            <a:ext cx="1571731" cy="2704053"/>
          </a:xfrm>
          <a:custGeom>
            <a:avLst/>
            <a:gdLst/>
            <a:ahLst/>
            <a:cxnLst/>
            <a:rect r="r" b="b" t="t" l="l"/>
            <a:pathLst>
              <a:path h="2704053" w="1571731">
                <a:moveTo>
                  <a:pt x="1571731" y="0"/>
                </a:moveTo>
                <a:lnTo>
                  <a:pt x="0" y="0"/>
                </a:lnTo>
                <a:lnTo>
                  <a:pt x="0" y="2704053"/>
                </a:lnTo>
                <a:lnTo>
                  <a:pt x="1571731" y="2704053"/>
                </a:lnTo>
                <a:lnTo>
                  <a:pt x="1571731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734027" y="931907"/>
            <a:ext cx="5143921" cy="688806"/>
            <a:chOff x="0" y="0"/>
            <a:chExt cx="6858561" cy="918408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121839" cy="918408"/>
            </a:xfrm>
            <a:custGeom>
              <a:avLst/>
              <a:gdLst/>
              <a:ahLst/>
              <a:cxnLst/>
              <a:rect r="r" b="b" t="t" l="l"/>
              <a:pathLst>
                <a:path h="918408" w="2121839">
                  <a:moveTo>
                    <a:pt x="0" y="0"/>
                  </a:moveTo>
                  <a:lnTo>
                    <a:pt x="2121839" y="0"/>
                  </a:lnTo>
                  <a:lnTo>
                    <a:pt x="2121839" y="918408"/>
                  </a:lnTo>
                  <a:lnTo>
                    <a:pt x="0" y="91840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38805" t="-53224" r="-35377" b="-52514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 rot="0">
              <a:off x="2286187" y="134211"/>
              <a:ext cx="4572374" cy="58331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743"/>
                </a:lnSpc>
              </a:pPr>
              <a:r>
                <a:rPr lang="en-US" sz="2599" spc="129">
                  <a:solidFill>
                    <a:srgbClr val="FFFFFF"/>
                  </a:solidFill>
                  <a:latin typeface="Hero Bold"/>
                  <a:ea typeface="Hero Bold"/>
                  <a:cs typeface="Hero Bold"/>
                  <a:sym typeface="Hero Bold"/>
                </a:rPr>
                <a:t>Club Entre Patitas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3733133" y="293375"/>
            <a:ext cx="3526167" cy="9885993"/>
            <a:chOff x="0" y="0"/>
            <a:chExt cx="928702" cy="2603718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928703" cy="2603718"/>
            </a:xfrm>
            <a:custGeom>
              <a:avLst/>
              <a:gdLst/>
              <a:ahLst/>
              <a:cxnLst/>
              <a:rect r="r" b="b" t="t" l="l"/>
              <a:pathLst>
                <a:path h="2603718" w="928703">
                  <a:moveTo>
                    <a:pt x="0" y="0"/>
                  </a:moveTo>
                  <a:lnTo>
                    <a:pt x="928703" y="0"/>
                  </a:lnTo>
                  <a:lnTo>
                    <a:pt x="928703" y="2603718"/>
                  </a:lnTo>
                  <a:lnTo>
                    <a:pt x="0" y="2603718"/>
                  </a:lnTo>
                  <a:close/>
                </a:path>
              </a:pathLst>
            </a:custGeom>
            <a:solidFill>
              <a:srgbClr val="F7FADF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0"/>
              <a:ext cx="928702" cy="260371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14"/>
                </a:lnSpc>
              </a:pPr>
            </a:p>
          </p:txBody>
        </p:sp>
      </p:grpSp>
      <p:sp>
        <p:nvSpPr>
          <p:cNvPr name="Freeform 13" id="13"/>
          <p:cNvSpPr/>
          <p:nvPr/>
        </p:nvSpPr>
        <p:spPr>
          <a:xfrm flipH="false" flipV="false" rot="0">
            <a:off x="13942683" y="293375"/>
            <a:ext cx="3113605" cy="9885993"/>
          </a:xfrm>
          <a:custGeom>
            <a:avLst/>
            <a:gdLst/>
            <a:ahLst/>
            <a:cxnLst/>
            <a:rect r="r" b="b" t="t" l="l"/>
            <a:pathLst>
              <a:path h="9885993" w="3113605">
                <a:moveTo>
                  <a:pt x="0" y="0"/>
                </a:moveTo>
                <a:lnTo>
                  <a:pt x="3113604" y="0"/>
                </a:lnTo>
                <a:lnTo>
                  <a:pt x="3113604" y="9885993"/>
                </a:lnTo>
                <a:lnTo>
                  <a:pt x="0" y="9885993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-603" t="0" r="-603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1917548" y="2953284"/>
            <a:ext cx="6542169" cy="6305016"/>
          </a:xfrm>
          <a:custGeom>
            <a:avLst/>
            <a:gdLst/>
            <a:ahLst/>
            <a:cxnLst/>
            <a:rect r="r" b="b" t="t" l="l"/>
            <a:pathLst>
              <a:path h="6305016" w="6542169">
                <a:moveTo>
                  <a:pt x="0" y="0"/>
                </a:moveTo>
                <a:lnTo>
                  <a:pt x="6542169" y="0"/>
                </a:lnTo>
                <a:lnTo>
                  <a:pt x="6542169" y="6305016"/>
                </a:lnTo>
                <a:lnTo>
                  <a:pt x="0" y="6305016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2178526" y="2204389"/>
            <a:ext cx="4211133" cy="8953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49"/>
              </a:lnSpc>
            </a:pPr>
            <a:r>
              <a:rPr lang="en-US" sz="7499" b="true">
                <a:solidFill>
                  <a:srgbClr val="FFFFFF"/>
                </a:solidFill>
                <a:latin typeface="Dynapuff Semi-Bold"/>
                <a:ea typeface="Dynapuff Semi-Bold"/>
                <a:cs typeface="Dynapuff Semi-Bold"/>
                <a:sym typeface="Dynapuff Semi-Bold"/>
              </a:rPr>
              <a:t>Scrum++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8459717" y="293375"/>
            <a:ext cx="4345008" cy="9055874"/>
            <a:chOff x="0" y="0"/>
            <a:chExt cx="1144364" cy="2385086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144364" cy="2385086"/>
            </a:xfrm>
            <a:custGeom>
              <a:avLst/>
              <a:gdLst/>
              <a:ahLst/>
              <a:cxnLst/>
              <a:rect r="r" b="b" t="t" l="l"/>
              <a:pathLst>
                <a:path h="2385086" w="1144364">
                  <a:moveTo>
                    <a:pt x="0" y="0"/>
                  </a:moveTo>
                  <a:lnTo>
                    <a:pt x="1144364" y="0"/>
                  </a:lnTo>
                  <a:lnTo>
                    <a:pt x="1144364" y="2385086"/>
                  </a:lnTo>
                  <a:lnTo>
                    <a:pt x="0" y="2385086"/>
                  </a:lnTo>
                  <a:close/>
                </a:path>
              </a:pathLst>
            </a:custGeom>
            <a:solidFill>
              <a:srgbClr val="F7FADF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0"/>
              <a:ext cx="1144364" cy="238508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14"/>
                </a:lnSpc>
              </a:pPr>
            </a:p>
          </p:txBody>
        </p:sp>
      </p:grpSp>
      <p:sp>
        <p:nvSpPr>
          <p:cNvPr name="Freeform 19" id="19"/>
          <p:cNvSpPr/>
          <p:nvPr/>
        </p:nvSpPr>
        <p:spPr>
          <a:xfrm flipH="false" flipV="false" rot="0">
            <a:off x="8527143" y="391867"/>
            <a:ext cx="4210157" cy="8713120"/>
          </a:xfrm>
          <a:custGeom>
            <a:avLst/>
            <a:gdLst/>
            <a:ahLst/>
            <a:cxnLst/>
            <a:rect r="r" b="b" t="t" l="l"/>
            <a:pathLst>
              <a:path h="8713120" w="4210157">
                <a:moveTo>
                  <a:pt x="0" y="0"/>
                </a:moveTo>
                <a:lnTo>
                  <a:pt x="4210156" y="0"/>
                </a:lnTo>
                <a:lnTo>
                  <a:pt x="4210156" y="8713120"/>
                </a:lnTo>
                <a:lnTo>
                  <a:pt x="0" y="871312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-2554" t="-54" r="0" b="-54"/>
            </a:stretch>
          </a:blipFill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784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true" rot="0">
            <a:off x="9447097" y="8419406"/>
            <a:ext cx="12953696" cy="6467166"/>
          </a:xfrm>
          <a:custGeom>
            <a:avLst/>
            <a:gdLst/>
            <a:ahLst/>
            <a:cxnLst/>
            <a:rect r="r" b="b" t="t" l="l"/>
            <a:pathLst>
              <a:path h="6467166" w="12953696">
                <a:moveTo>
                  <a:pt x="0" y="6467166"/>
                </a:moveTo>
                <a:lnTo>
                  <a:pt x="12953696" y="6467166"/>
                </a:lnTo>
                <a:lnTo>
                  <a:pt x="12953696" y="0"/>
                </a:lnTo>
                <a:lnTo>
                  <a:pt x="0" y="0"/>
                </a:lnTo>
                <a:lnTo>
                  <a:pt x="0" y="6467166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1570967" y="7442782"/>
            <a:ext cx="12953696" cy="6467166"/>
          </a:xfrm>
          <a:custGeom>
            <a:avLst/>
            <a:gdLst/>
            <a:ahLst/>
            <a:cxnLst/>
            <a:rect r="r" b="b" t="t" l="l"/>
            <a:pathLst>
              <a:path h="6467166" w="12953696">
                <a:moveTo>
                  <a:pt x="0" y="0"/>
                </a:moveTo>
                <a:lnTo>
                  <a:pt x="12953696" y="0"/>
                </a:lnTo>
                <a:lnTo>
                  <a:pt x="12953696" y="6467167"/>
                </a:lnTo>
                <a:lnTo>
                  <a:pt x="0" y="646716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5341171" y="2439433"/>
            <a:ext cx="7605657" cy="8953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449"/>
              </a:lnSpc>
            </a:pPr>
            <a:r>
              <a:rPr lang="en-US" sz="7499" b="true">
                <a:solidFill>
                  <a:srgbClr val="FFFFFF"/>
                </a:solidFill>
                <a:latin typeface="Dynapuff Semi-Bold"/>
                <a:ea typeface="Dynapuff Semi-Bold"/>
                <a:cs typeface="Dynapuff Semi-Bold"/>
                <a:sym typeface="Dynapuff Semi-Bold"/>
              </a:rPr>
              <a:t>Casos de uso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2778655" y="3689113"/>
            <a:ext cx="12730691" cy="3581520"/>
            <a:chOff x="0" y="0"/>
            <a:chExt cx="3352939" cy="94328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3352939" cy="943281"/>
            </a:xfrm>
            <a:custGeom>
              <a:avLst/>
              <a:gdLst/>
              <a:ahLst/>
              <a:cxnLst/>
              <a:rect r="r" b="b" t="t" l="l"/>
              <a:pathLst>
                <a:path h="943281" w="3352939">
                  <a:moveTo>
                    <a:pt x="19460" y="0"/>
                  </a:moveTo>
                  <a:lnTo>
                    <a:pt x="3333479" y="0"/>
                  </a:lnTo>
                  <a:cubicBezTo>
                    <a:pt x="3344226" y="0"/>
                    <a:pt x="3352939" y="8713"/>
                    <a:pt x="3352939" y="19460"/>
                  </a:cubicBezTo>
                  <a:lnTo>
                    <a:pt x="3352939" y="923821"/>
                  </a:lnTo>
                  <a:cubicBezTo>
                    <a:pt x="3352939" y="934568"/>
                    <a:pt x="3344226" y="943281"/>
                    <a:pt x="3333479" y="943281"/>
                  </a:cubicBezTo>
                  <a:lnTo>
                    <a:pt x="19460" y="943281"/>
                  </a:lnTo>
                  <a:cubicBezTo>
                    <a:pt x="8713" y="943281"/>
                    <a:pt x="0" y="934568"/>
                    <a:pt x="0" y="923821"/>
                  </a:cubicBezTo>
                  <a:lnTo>
                    <a:pt x="0" y="19460"/>
                  </a:lnTo>
                  <a:cubicBezTo>
                    <a:pt x="0" y="8713"/>
                    <a:pt x="8713" y="0"/>
                    <a:pt x="19460" y="0"/>
                  </a:cubicBezTo>
                  <a:close/>
                </a:path>
              </a:pathLst>
            </a:custGeom>
            <a:solidFill>
              <a:srgbClr val="F7FADF"/>
            </a:solidFill>
            <a:ln w="38100" cap="rnd">
              <a:solidFill>
                <a:srgbClr val="693410"/>
              </a:solidFill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19050"/>
              <a:ext cx="3352939" cy="96233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74"/>
                </a:lnSpc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4183740" y="4343096"/>
            <a:ext cx="9920521" cy="22830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68"/>
              </a:lnSpc>
            </a:pPr>
            <a:r>
              <a:rPr lang="en-US" b="true" sz="2600" spc="-80" u="sng">
                <a:solidFill>
                  <a:srgbClr val="0A1822"/>
                </a:solidFill>
                <a:latin typeface="Milk Tea Font TH Bold"/>
                <a:ea typeface="Milk Tea Font TH Bold"/>
                <a:cs typeface="Milk Tea Font TH Bold"/>
                <a:sym typeface="Milk Tea Font TH Bold"/>
              </a:rPr>
              <a:t>Foco</a:t>
            </a:r>
            <a:r>
              <a:rPr lang="en-US" sz="2600" spc="-80">
                <a:solidFill>
                  <a:srgbClr val="0A1822"/>
                </a:solidFill>
                <a:latin typeface="Milk Tea Font TH"/>
                <a:ea typeface="Milk Tea Font TH"/>
                <a:cs typeface="Milk Tea Font TH"/>
                <a:sym typeface="Milk Tea Font TH"/>
              </a:rPr>
              <a:t>: Casos de Uso 46 al 53.</a:t>
            </a:r>
          </a:p>
          <a:p>
            <a:pPr algn="ctr">
              <a:lnSpc>
                <a:spcPts val="3068"/>
              </a:lnSpc>
            </a:pPr>
            <a:r>
              <a:rPr lang="en-US" b="true" sz="2600" spc="-80" u="sng">
                <a:solidFill>
                  <a:srgbClr val="0A1822"/>
                </a:solidFill>
                <a:latin typeface="Milk Tea Font TH Bold"/>
                <a:ea typeface="Milk Tea Font TH Bold"/>
                <a:cs typeface="Milk Tea Font TH Bold"/>
                <a:sym typeface="Milk Tea Font TH Bold"/>
              </a:rPr>
              <a:t>Propósito</a:t>
            </a:r>
            <a:r>
              <a:rPr lang="en-US" sz="2600" spc="-80">
                <a:solidFill>
                  <a:srgbClr val="0A1822"/>
                </a:solidFill>
                <a:latin typeface="Milk Tea Font TH"/>
                <a:ea typeface="Milk Tea Font TH"/>
                <a:cs typeface="Milk Tea Font TH"/>
                <a:sym typeface="Milk Tea Font TH"/>
              </a:rPr>
              <a:t>: Describir las interacciones clave entre los actores y el sistema.</a:t>
            </a:r>
          </a:p>
          <a:p>
            <a:pPr algn="ctr">
              <a:lnSpc>
                <a:spcPts val="3068"/>
              </a:lnSpc>
            </a:pPr>
            <a:r>
              <a:rPr lang="en-US" b="true" sz="2600" spc="-80" u="sng">
                <a:solidFill>
                  <a:srgbClr val="0A1822"/>
                </a:solidFill>
                <a:latin typeface="Milk Tea Font TH Bold"/>
                <a:ea typeface="Milk Tea Font TH Bold"/>
                <a:cs typeface="Milk Tea Font TH Bold"/>
                <a:sym typeface="Milk Tea Font TH Bold"/>
              </a:rPr>
              <a:t>Selección</a:t>
            </a:r>
            <a:r>
              <a:rPr lang="en-US" sz="2600" spc="-80">
                <a:solidFill>
                  <a:srgbClr val="0A1822"/>
                </a:solidFill>
                <a:latin typeface="Milk Tea Font TH"/>
                <a:ea typeface="Milk Tea Font TH"/>
                <a:cs typeface="Milk Tea Font TH"/>
                <a:sym typeface="Milk Tea Font TH"/>
              </a:rPr>
              <a:t>: Priorizados por su criticidad y alto valor funcional.</a:t>
            </a:r>
          </a:p>
          <a:p>
            <a:pPr algn="ctr">
              <a:lnSpc>
                <a:spcPts val="3068"/>
              </a:lnSpc>
            </a:pPr>
            <a:r>
              <a:rPr lang="en-US" b="true" sz="2600" spc="-80" u="sng">
                <a:solidFill>
                  <a:srgbClr val="0A1822"/>
                </a:solidFill>
                <a:latin typeface="Milk Tea Font TH Bold"/>
                <a:ea typeface="Milk Tea Font TH Bold"/>
                <a:cs typeface="Milk Tea Font TH Bold"/>
                <a:sym typeface="Milk Tea Font TH Bold"/>
              </a:rPr>
              <a:t>Función</a:t>
            </a:r>
            <a:r>
              <a:rPr lang="en-US" sz="2600" spc="-80">
                <a:solidFill>
                  <a:srgbClr val="0A1822"/>
                </a:solidFill>
                <a:latin typeface="Milk Tea Font TH"/>
                <a:ea typeface="Milk Tea Font TH"/>
                <a:cs typeface="Milk Tea Font TH"/>
                <a:sym typeface="Milk Tea Font TH"/>
              </a:rPr>
              <a:t>: Son la base esencial para el diseño y la implementación de las funcionalidades que se desarrollaron en esta etapa.</a:t>
            </a:r>
          </a:p>
          <a:p>
            <a:pPr algn="ctr">
              <a:lnSpc>
                <a:spcPts val="3068"/>
              </a:lnSpc>
            </a:pPr>
          </a:p>
        </p:txBody>
      </p:sp>
      <p:sp>
        <p:nvSpPr>
          <p:cNvPr name="Freeform 9" id="9"/>
          <p:cNvSpPr/>
          <p:nvPr/>
        </p:nvSpPr>
        <p:spPr>
          <a:xfrm flipH="true" flipV="false" rot="0">
            <a:off x="-235636" y="1878251"/>
            <a:ext cx="1571731" cy="2704053"/>
          </a:xfrm>
          <a:custGeom>
            <a:avLst/>
            <a:gdLst/>
            <a:ahLst/>
            <a:cxnLst/>
            <a:rect r="r" b="b" t="t" l="l"/>
            <a:pathLst>
              <a:path h="2704053" w="1571731">
                <a:moveTo>
                  <a:pt x="1571731" y="0"/>
                </a:moveTo>
                <a:lnTo>
                  <a:pt x="0" y="0"/>
                </a:lnTo>
                <a:lnTo>
                  <a:pt x="0" y="2704052"/>
                </a:lnTo>
                <a:lnTo>
                  <a:pt x="1571731" y="2704052"/>
                </a:lnTo>
                <a:lnTo>
                  <a:pt x="1571731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6955187" y="5143500"/>
            <a:ext cx="1571731" cy="2704053"/>
          </a:xfrm>
          <a:custGeom>
            <a:avLst/>
            <a:gdLst/>
            <a:ahLst/>
            <a:cxnLst/>
            <a:rect r="r" b="b" t="t" l="l"/>
            <a:pathLst>
              <a:path h="2704053" w="1571731">
                <a:moveTo>
                  <a:pt x="0" y="0"/>
                </a:moveTo>
                <a:lnTo>
                  <a:pt x="1571730" y="0"/>
                </a:lnTo>
                <a:lnTo>
                  <a:pt x="1571730" y="2704053"/>
                </a:lnTo>
                <a:lnTo>
                  <a:pt x="0" y="270405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734027" y="931907"/>
            <a:ext cx="5143921" cy="688806"/>
            <a:chOff x="0" y="0"/>
            <a:chExt cx="6858561" cy="918408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121839" cy="918408"/>
            </a:xfrm>
            <a:custGeom>
              <a:avLst/>
              <a:gdLst/>
              <a:ahLst/>
              <a:cxnLst/>
              <a:rect r="r" b="b" t="t" l="l"/>
              <a:pathLst>
                <a:path h="918408" w="2121839">
                  <a:moveTo>
                    <a:pt x="0" y="0"/>
                  </a:moveTo>
                  <a:lnTo>
                    <a:pt x="2121839" y="0"/>
                  </a:lnTo>
                  <a:lnTo>
                    <a:pt x="2121839" y="918408"/>
                  </a:lnTo>
                  <a:lnTo>
                    <a:pt x="0" y="91840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38805" t="-53224" r="-35377" b="-52514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 rot="0">
              <a:off x="2286187" y="134211"/>
              <a:ext cx="4572374" cy="58331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743"/>
                </a:lnSpc>
              </a:pPr>
              <a:r>
                <a:rPr lang="en-US" sz="2599" spc="129">
                  <a:solidFill>
                    <a:srgbClr val="FFFFFF"/>
                  </a:solidFill>
                  <a:latin typeface="Hero Bold"/>
                  <a:ea typeface="Hero Bold"/>
                  <a:cs typeface="Hero Bold"/>
                  <a:sym typeface="Hero Bold"/>
                </a:rPr>
                <a:t>Club Entre Patitas</a:t>
              </a:r>
            </a:p>
          </p:txBody>
        </p:sp>
      </p:grp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784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626901" y="6985067"/>
            <a:ext cx="12953696" cy="6467166"/>
          </a:xfrm>
          <a:custGeom>
            <a:avLst/>
            <a:gdLst/>
            <a:ahLst/>
            <a:cxnLst/>
            <a:rect r="r" b="b" t="t" l="l"/>
            <a:pathLst>
              <a:path h="6467166" w="12953696">
                <a:moveTo>
                  <a:pt x="0" y="0"/>
                </a:moveTo>
                <a:lnTo>
                  <a:pt x="12953696" y="0"/>
                </a:lnTo>
                <a:lnTo>
                  <a:pt x="12953696" y="6467167"/>
                </a:lnTo>
                <a:lnTo>
                  <a:pt x="0" y="646716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8874203" y="7597641"/>
            <a:ext cx="12953696" cy="6467166"/>
          </a:xfrm>
          <a:custGeom>
            <a:avLst/>
            <a:gdLst/>
            <a:ahLst/>
            <a:cxnLst/>
            <a:rect r="r" b="b" t="t" l="l"/>
            <a:pathLst>
              <a:path h="6467166" w="12953696">
                <a:moveTo>
                  <a:pt x="0" y="0"/>
                </a:moveTo>
                <a:lnTo>
                  <a:pt x="12953696" y="0"/>
                </a:lnTo>
                <a:lnTo>
                  <a:pt x="12953696" y="6467166"/>
                </a:lnTo>
                <a:lnTo>
                  <a:pt x="0" y="64671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0">
            <a:off x="17046943" y="7359516"/>
            <a:ext cx="1571731" cy="2704053"/>
          </a:xfrm>
          <a:custGeom>
            <a:avLst/>
            <a:gdLst/>
            <a:ahLst/>
            <a:cxnLst/>
            <a:rect r="r" b="b" t="t" l="l"/>
            <a:pathLst>
              <a:path h="2704053" w="1571731">
                <a:moveTo>
                  <a:pt x="1571731" y="0"/>
                </a:moveTo>
                <a:lnTo>
                  <a:pt x="0" y="0"/>
                </a:lnTo>
                <a:lnTo>
                  <a:pt x="0" y="2704053"/>
                </a:lnTo>
                <a:lnTo>
                  <a:pt x="1571731" y="2704053"/>
                </a:lnTo>
                <a:lnTo>
                  <a:pt x="1571731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734027" y="931907"/>
            <a:ext cx="5143921" cy="688806"/>
            <a:chOff x="0" y="0"/>
            <a:chExt cx="6858561" cy="91840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21839" cy="918408"/>
            </a:xfrm>
            <a:custGeom>
              <a:avLst/>
              <a:gdLst/>
              <a:ahLst/>
              <a:cxnLst/>
              <a:rect r="r" b="b" t="t" l="l"/>
              <a:pathLst>
                <a:path h="918408" w="2121839">
                  <a:moveTo>
                    <a:pt x="0" y="0"/>
                  </a:moveTo>
                  <a:lnTo>
                    <a:pt x="2121839" y="0"/>
                  </a:lnTo>
                  <a:lnTo>
                    <a:pt x="2121839" y="918408"/>
                  </a:lnTo>
                  <a:lnTo>
                    <a:pt x="0" y="91840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38805" t="-53224" r="-35377" b="-52514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 rot="0">
              <a:off x="2286187" y="134211"/>
              <a:ext cx="4572374" cy="58331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743"/>
                </a:lnSpc>
              </a:pPr>
              <a:r>
                <a:rPr lang="en-US" sz="2599" spc="129">
                  <a:solidFill>
                    <a:srgbClr val="FFFFFF"/>
                  </a:solidFill>
                  <a:latin typeface="Hero Bold"/>
                  <a:ea typeface="Hero Bold"/>
                  <a:cs typeface="Hero Bold"/>
                  <a:sym typeface="Hero Bold"/>
                </a:rPr>
                <a:t>Club Entre Patitas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0055305" y="84514"/>
            <a:ext cx="3739225" cy="9979055"/>
            <a:chOff x="0" y="0"/>
            <a:chExt cx="984816" cy="262822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984816" cy="2628228"/>
            </a:xfrm>
            <a:custGeom>
              <a:avLst/>
              <a:gdLst/>
              <a:ahLst/>
              <a:cxnLst/>
              <a:rect r="r" b="b" t="t" l="l"/>
              <a:pathLst>
                <a:path h="2628228" w="984816">
                  <a:moveTo>
                    <a:pt x="0" y="0"/>
                  </a:moveTo>
                  <a:lnTo>
                    <a:pt x="984816" y="0"/>
                  </a:lnTo>
                  <a:lnTo>
                    <a:pt x="984816" y="2628228"/>
                  </a:lnTo>
                  <a:lnTo>
                    <a:pt x="0" y="2628228"/>
                  </a:lnTo>
                  <a:close/>
                </a:path>
              </a:pathLst>
            </a:custGeom>
            <a:solidFill>
              <a:srgbClr val="F7FADF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0"/>
              <a:ext cx="984816" cy="262822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14"/>
                </a:lnSpc>
              </a:pP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10415845" y="174813"/>
            <a:ext cx="3018145" cy="9798456"/>
          </a:xfrm>
          <a:custGeom>
            <a:avLst/>
            <a:gdLst/>
            <a:ahLst/>
            <a:cxnLst/>
            <a:rect r="r" b="b" t="t" l="l"/>
            <a:pathLst>
              <a:path h="9798456" w="3018145">
                <a:moveTo>
                  <a:pt x="0" y="0"/>
                </a:moveTo>
                <a:lnTo>
                  <a:pt x="3018145" y="0"/>
                </a:lnTo>
                <a:lnTo>
                  <a:pt x="3018145" y="9798457"/>
                </a:lnTo>
                <a:lnTo>
                  <a:pt x="0" y="9798457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-213" t="0" r="-834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781379" y="3569236"/>
            <a:ext cx="6709367" cy="6717764"/>
          </a:xfrm>
          <a:custGeom>
            <a:avLst/>
            <a:gdLst/>
            <a:ahLst/>
            <a:cxnLst/>
            <a:rect r="r" b="b" t="t" l="l"/>
            <a:pathLst>
              <a:path h="6717764" w="6709367">
                <a:moveTo>
                  <a:pt x="0" y="0"/>
                </a:moveTo>
                <a:lnTo>
                  <a:pt x="6709367" y="0"/>
                </a:lnTo>
                <a:lnTo>
                  <a:pt x="6709367" y="6717764"/>
                </a:lnTo>
                <a:lnTo>
                  <a:pt x="0" y="6717764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1128124" y="2549636"/>
            <a:ext cx="8015876" cy="7162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60"/>
              </a:lnSpc>
            </a:pPr>
            <a:r>
              <a:rPr lang="en-US" sz="6000" b="true">
                <a:solidFill>
                  <a:srgbClr val="FFFFFF"/>
                </a:solidFill>
                <a:latin typeface="Dynapuff Semi-Bold"/>
                <a:ea typeface="Dynapuff Semi-Bold"/>
                <a:cs typeface="Dynapuff Semi-Bold"/>
                <a:sym typeface="Dynapuff Semi-Bold"/>
              </a:rPr>
              <a:t>Árbol de navegación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784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782452" y="6441185"/>
            <a:ext cx="12953696" cy="6467166"/>
          </a:xfrm>
          <a:custGeom>
            <a:avLst/>
            <a:gdLst/>
            <a:ahLst/>
            <a:cxnLst/>
            <a:rect r="r" b="b" t="t" l="l"/>
            <a:pathLst>
              <a:path h="6467166" w="12953696">
                <a:moveTo>
                  <a:pt x="0" y="0"/>
                </a:moveTo>
                <a:lnTo>
                  <a:pt x="12953696" y="0"/>
                </a:lnTo>
                <a:lnTo>
                  <a:pt x="12953696" y="6467166"/>
                </a:lnTo>
                <a:lnTo>
                  <a:pt x="0" y="64671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true" rot="0">
            <a:off x="-1193628" y="8708396"/>
            <a:ext cx="12953696" cy="6467166"/>
          </a:xfrm>
          <a:custGeom>
            <a:avLst/>
            <a:gdLst/>
            <a:ahLst/>
            <a:cxnLst/>
            <a:rect r="r" b="b" t="t" l="l"/>
            <a:pathLst>
              <a:path h="6467166" w="12953696">
                <a:moveTo>
                  <a:pt x="0" y="6467167"/>
                </a:moveTo>
                <a:lnTo>
                  <a:pt x="12953696" y="6467167"/>
                </a:lnTo>
                <a:lnTo>
                  <a:pt x="12953696" y="0"/>
                </a:lnTo>
                <a:lnTo>
                  <a:pt x="0" y="0"/>
                </a:lnTo>
                <a:lnTo>
                  <a:pt x="0" y="6467167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0">
            <a:off x="16473435" y="2295639"/>
            <a:ext cx="1571731" cy="2704053"/>
          </a:xfrm>
          <a:custGeom>
            <a:avLst/>
            <a:gdLst/>
            <a:ahLst/>
            <a:cxnLst/>
            <a:rect r="r" b="b" t="t" l="l"/>
            <a:pathLst>
              <a:path h="2704053" w="1571731">
                <a:moveTo>
                  <a:pt x="1571730" y="0"/>
                </a:moveTo>
                <a:lnTo>
                  <a:pt x="0" y="0"/>
                </a:lnTo>
                <a:lnTo>
                  <a:pt x="0" y="2704053"/>
                </a:lnTo>
                <a:lnTo>
                  <a:pt x="1571730" y="2704053"/>
                </a:lnTo>
                <a:lnTo>
                  <a:pt x="157173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2742517" y="3647666"/>
            <a:ext cx="5365978" cy="5365978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  <a:ln w="95250" cap="sq">
              <a:solidFill>
                <a:srgbClr val="FFFFFF"/>
              </a:solidFill>
              <a:prstDash val="solid"/>
              <a:miter/>
            </a:ln>
          </p:spPr>
        </p:sp>
      </p:grpSp>
      <p:sp>
        <p:nvSpPr>
          <p:cNvPr name="Freeform 7" id="7"/>
          <p:cNvSpPr/>
          <p:nvPr/>
        </p:nvSpPr>
        <p:spPr>
          <a:xfrm flipH="false" flipV="false" rot="0">
            <a:off x="8588465" y="6136175"/>
            <a:ext cx="1571731" cy="2704053"/>
          </a:xfrm>
          <a:custGeom>
            <a:avLst/>
            <a:gdLst/>
            <a:ahLst/>
            <a:cxnLst/>
            <a:rect r="r" b="b" t="t" l="l"/>
            <a:pathLst>
              <a:path h="2704053" w="1571731">
                <a:moveTo>
                  <a:pt x="0" y="0"/>
                </a:moveTo>
                <a:lnTo>
                  <a:pt x="1571731" y="0"/>
                </a:lnTo>
                <a:lnTo>
                  <a:pt x="1571731" y="2704053"/>
                </a:lnTo>
                <a:lnTo>
                  <a:pt x="0" y="270405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734027" y="931907"/>
            <a:ext cx="5143921" cy="688806"/>
            <a:chOff x="0" y="0"/>
            <a:chExt cx="6858561" cy="91840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121839" cy="918408"/>
            </a:xfrm>
            <a:custGeom>
              <a:avLst/>
              <a:gdLst/>
              <a:ahLst/>
              <a:cxnLst/>
              <a:rect r="r" b="b" t="t" l="l"/>
              <a:pathLst>
                <a:path h="918408" w="2121839">
                  <a:moveTo>
                    <a:pt x="0" y="0"/>
                  </a:moveTo>
                  <a:lnTo>
                    <a:pt x="2121839" y="0"/>
                  </a:lnTo>
                  <a:lnTo>
                    <a:pt x="2121839" y="918408"/>
                  </a:lnTo>
                  <a:lnTo>
                    <a:pt x="0" y="91840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-38805" t="-53224" r="-35377" b="-52514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 rot="0">
              <a:off x="2286187" y="134211"/>
              <a:ext cx="4572374" cy="58331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743"/>
                </a:lnSpc>
              </a:pPr>
              <a:r>
                <a:rPr lang="en-US" sz="2599" spc="129">
                  <a:solidFill>
                    <a:srgbClr val="FFFFFF"/>
                  </a:solidFill>
                  <a:latin typeface="Hero Bold"/>
                  <a:ea typeface="Hero Bold"/>
                  <a:cs typeface="Hero Bold"/>
                  <a:sym typeface="Hero Bold"/>
                </a:rPr>
                <a:t>Club Entre Patitas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401257" y="2968104"/>
            <a:ext cx="2682520" cy="2682520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8"/>
              <a:stretch>
                <a:fillRect l="0" t="0" r="0" b="0"/>
              </a:stretch>
            </a:blipFill>
            <a:ln w="95250" cap="sq">
              <a:solidFill>
                <a:srgbClr val="FFFFFF"/>
              </a:solidFill>
              <a:prstDash val="solid"/>
              <a:miter/>
            </a:ln>
          </p:spPr>
        </p:sp>
      </p:grpSp>
      <p:sp>
        <p:nvSpPr>
          <p:cNvPr name="Freeform 13" id="13"/>
          <p:cNvSpPr/>
          <p:nvPr/>
        </p:nvSpPr>
        <p:spPr>
          <a:xfrm flipH="false" flipV="false" rot="0">
            <a:off x="9891591" y="765598"/>
            <a:ext cx="6581844" cy="8492702"/>
          </a:xfrm>
          <a:custGeom>
            <a:avLst/>
            <a:gdLst/>
            <a:ahLst/>
            <a:cxnLst/>
            <a:rect r="r" b="b" t="t" l="l"/>
            <a:pathLst>
              <a:path h="8492702" w="6581844">
                <a:moveTo>
                  <a:pt x="0" y="0"/>
                </a:moveTo>
                <a:lnTo>
                  <a:pt x="6581844" y="0"/>
                </a:lnTo>
                <a:lnTo>
                  <a:pt x="6581844" y="8492702"/>
                </a:lnTo>
                <a:lnTo>
                  <a:pt x="0" y="8492702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1078234" y="2032749"/>
            <a:ext cx="8409973" cy="7162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60"/>
              </a:lnSpc>
            </a:pPr>
            <a:r>
              <a:rPr lang="en-US" sz="6000" b="true">
                <a:solidFill>
                  <a:srgbClr val="FFFFFF"/>
                </a:solidFill>
                <a:latin typeface="Dynapuff Semi-Bold"/>
                <a:ea typeface="Dynapuff Semi-Bold"/>
                <a:cs typeface="Dynapuff Semi-Bold"/>
                <a:sym typeface="Dynapuff Semi-Bold"/>
              </a:rPr>
              <a:t>Diagrama de  Clases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784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8071440" y="3456652"/>
            <a:ext cx="2122582" cy="3651754"/>
          </a:xfrm>
          <a:custGeom>
            <a:avLst/>
            <a:gdLst/>
            <a:ahLst/>
            <a:cxnLst/>
            <a:rect r="r" b="b" t="t" l="l"/>
            <a:pathLst>
              <a:path h="3651754" w="2122582">
                <a:moveTo>
                  <a:pt x="0" y="0"/>
                </a:moveTo>
                <a:lnTo>
                  <a:pt x="2122582" y="0"/>
                </a:lnTo>
                <a:lnTo>
                  <a:pt x="2122582" y="3651755"/>
                </a:lnTo>
                <a:lnTo>
                  <a:pt x="0" y="365175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8105156" y="4925289"/>
            <a:ext cx="16400126" cy="8187806"/>
          </a:xfrm>
          <a:custGeom>
            <a:avLst/>
            <a:gdLst/>
            <a:ahLst/>
            <a:cxnLst/>
            <a:rect r="r" b="b" t="t" l="l"/>
            <a:pathLst>
              <a:path h="8187806" w="16400126">
                <a:moveTo>
                  <a:pt x="0" y="0"/>
                </a:moveTo>
                <a:lnTo>
                  <a:pt x="16400127" y="0"/>
                </a:lnTo>
                <a:lnTo>
                  <a:pt x="16400127" y="8187806"/>
                </a:lnTo>
                <a:lnTo>
                  <a:pt x="0" y="818780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true" rot="0">
            <a:off x="-909937" y="8471321"/>
            <a:ext cx="12953696" cy="6467166"/>
          </a:xfrm>
          <a:custGeom>
            <a:avLst/>
            <a:gdLst/>
            <a:ahLst/>
            <a:cxnLst/>
            <a:rect r="r" b="b" t="t" l="l"/>
            <a:pathLst>
              <a:path h="6467166" w="12953696">
                <a:moveTo>
                  <a:pt x="0" y="6467167"/>
                </a:moveTo>
                <a:lnTo>
                  <a:pt x="12953696" y="6467167"/>
                </a:lnTo>
                <a:lnTo>
                  <a:pt x="12953696" y="0"/>
                </a:lnTo>
                <a:lnTo>
                  <a:pt x="0" y="0"/>
                </a:lnTo>
                <a:lnTo>
                  <a:pt x="0" y="6467167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0">
            <a:off x="15634362" y="5377497"/>
            <a:ext cx="2732403" cy="4700908"/>
          </a:xfrm>
          <a:custGeom>
            <a:avLst/>
            <a:gdLst/>
            <a:ahLst/>
            <a:cxnLst/>
            <a:rect r="r" b="b" t="t" l="l"/>
            <a:pathLst>
              <a:path h="4700908" w="2732403">
                <a:moveTo>
                  <a:pt x="2732403" y="0"/>
                </a:moveTo>
                <a:lnTo>
                  <a:pt x="0" y="0"/>
                </a:lnTo>
                <a:lnTo>
                  <a:pt x="0" y="4700908"/>
                </a:lnTo>
                <a:lnTo>
                  <a:pt x="2732403" y="4700908"/>
                </a:lnTo>
                <a:lnTo>
                  <a:pt x="2732403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734027" y="931907"/>
            <a:ext cx="5143921" cy="688806"/>
            <a:chOff x="0" y="0"/>
            <a:chExt cx="6858561" cy="91840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121839" cy="918408"/>
            </a:xfrm>
            <a:custGeom>
              <a:avLst/>
              <a:gdLst/>
              <a:ahLst/>
              <a:cxnLst/>
              <a:rect r="r" b="b" t="t" l="l"/>
              <a:pathLst>
                <a:path h="918408" w="2121839">
                  <a:moveTo>
                    <a:pt x="0" y="0"/>
                  </a:moveTo>
                  <a:lnTo>
                    <a:pt x="2121839" y="0"/>
                  </a:lnTo>
                  <a:lnTo>
                    <a:pt x="2121839" y="918408"/>
                  </a:lnTo>
                  <a:lnTo>
                    <a:pt x="0" y="91840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38805" t="-53224" r="-35377" b="-52514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 rot="0">
              <a:off x="2286187" y="134211"/>
              <a:ext cx="4572374" cy="58331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743"/>
                </a:lnSpc>
              </a:pPr>
              <a:r>
                <a:rPr lang="en-US" sz="2599" spc="129">
                  <a:solidFill>
                    <a:srgbClr val="FFFFFF"/>
                  </a:solidFill>
                  <a:latin typeface="Hero Bold"/>
                  <a:ea typeface="Hero Bold"/>
                  <a:cs typeface="Hero Bold"/>
                  <a:sym typeface="Hero Bold"/>
                </a:rPr>
                <a:t>Club Entre Patitas</a:t>
              </a: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8234052" y="670487"/>
            <a:ext cx="8535021" cy="8348705"/>
          </a:xfrm>
          <a:custGeom>
            <a:avLst/>
            <a:gdLst/>
            <a:ahLst/>
            <a:cxnLst/>
            <a:rect r="r" b="b" t="t" l="l"/>
            <a:pathLst>
              <a:path h="8348705" w="8535021">
                <a:moveTo>
                  <a:pt x="0" y="0"/>
                </a:moveTo>
                <a:lnTo>
                  <a:pt x="8535021" y="0"/>
                </a:lnTo>
                <a:lnTo>
                  <a:pt x="8535021" y="8348705"/>
                </a:lnTo>
                <a:lnTo>
                  <a:pt x="0" y="834870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-196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671493" y="2901342"/>
            <a:ext cx="4924052" cy="6356958"/>
          </a:xfrm>
          <a:custGeom>
            <a:avLst/>
            <a:gdLst/>
            <a:ahLst/>
            <a:cxnLst/>
            <a:rect r="r" b="b" t="t" l="l"/>
            <a:pathLst>
              <a:path h="6356958" w="4924052">
                <a:moveTo>
                  <a:pt x="0" y="0"/>
                </a:moveTo>
                <a:lnTo>
                  <a:pt x="4924053" y="0"/>
                </a:lnTo>
                <a:lnTo>
                  <a:pt x="4924053" y="6356958"/>
                </a:lnTo>
                <a:lnTo>
                  <a:pt x="0" y="6356958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-626" r="0" b="-626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1028700" y="2415948"/>
            <a:ext cx="6545584" cy="7162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60"/>
              </a:lnSpc>
            </a:pPr>
            <a:r>
              <a:rPr lang="en-US" sz="6000" b="true">
                <a:solidFill>
                  <a:srgbClr val="FFFFFF"/>
                </a:solidFill>
                <a:latin typeface="Dynapuff Semi-Bold"/>
                <a:ea typeface="Dynapuff Semi-Bold"/>
                <a:cs typeface="Dynapuff Semi-Bold"/>
                <a:sym typeface="Dynapuff Semi-Bold"/>
              </a:rPr>
              <a:t>Modelo de datos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784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true" rot="0">
            <a:off x="8051780" y="6160468"/>
            <a:ext cx="12953696" cy="6467166"/>
          </a:xfrm>
          <a:custGeom>
            <a:avLst/>
            <a:gdLst/>
            <a:ahLst/>
            <a:cxnLst/>
            <a:rect r="r" b="b" t="t" l="l"/>
            <a:pathLst>
              <a:path h="6467166" w="12953696">
                <a:moveTo>
                  <a:pt x="0" y="6467166"/>
                </a:moveTo>
                <a:lnTo>
                  <a:pt x="12953695" y="6467166"/>
                </a:lnTo>
                <a:lnTo>
                  <a:pt x="12953695" y="0"/>
                </a:lnTo>
                <a:lnTo>
                  <a:pt x="0" y="0"/>
                </a:lnTo>
                <a:lnTo>
                  <a:pt x="0" y="6467166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true" rot="0">
            <a:off x="-1952410" y="8207003"/>
            <a:ext cx="12953696" cy="6467166"/>
          </a:xfrm>
          <a:custGeom>
            <a:avLst/>
            <a:gdLst/>
            <a:ahLst/>
            <a:cxnLst/>
            <a:rect r="r" b="b" t="t" l="l"/>
            <a:pathLst>
              <a:path h="6467166" w="12953696">
                <a:moveTo>
                  <a:pt x="0" y="6467166"/>
                </a:moveTo>
                <a:lnTo>
                  <a:pt x="12953696" y="6467166"/>
                </a:lnTo>
                <a:lnTo>
                  <a:pt x="12953696" y="0"/>
                </a:lnTo>
                <a:lnTo>
                  <a:pt x="0" y="0"/>
                </a:lnTo>
                <a:lnTo>
                  <a:pt x="0" y="6467166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734027" y="931907"/>
            <a:ext cx="5143921" cy="688806"/>
            <a:chOff x="0" y="0"/>
            <a:chExt cx="6858561" cy="91840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21839" cy="918408"/>
            </a:xfrm>
            <a:custGeom>
              <a:avLst/>
              <a:gdLst/>
              <a:ahLst/>
              <a:cxnLst/>
              <a:rect r="r" b="b" t="t" l="l"/>
              <a:pathLst>
                <a:path h="918408" w="2121839">
                  <a:moveTo>
                    <a:pt x="0" y="0"/>
                  </a:moveTo>
                  <a:lnTo>
                    <a:pt x="2121839" y="0"/>
                  </a:lnTo>
                  <a:lnTo>
                    <a:pt x="2121839" y="918408"/>
                  </a:lnTo>
                  <a:lnTo>
                    <a:pt x="0" y="91840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38805" t="-53224" r="-35377" b="-52514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 rot="0">
              <a:off x="2286187" y="134211"/>
              <a:ext cx="4572374" cy="58331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743"/>
                </a:lnSpc>
              </a:pPr>
              <a:r>
                <a:rPr lang="en-US" sz="2599" spc="129">
                  <a:solidFill>
                    <a:srgbClr val="FFFFFF"/>
                  </a:solidFill>
                  <a:latin typeface="Hero Bold"/>
                  <a:ea typeface="Hero Bold"/>
                  <a:cs typeface="Hero Bold"/>
                  <a:sym typeface="Hero Bold"/>
                </a:rPr>
                <a:t>Club Entre Patitas</a:t>
              </a:r>
            </a:p>
          </p:txBody>
        </p:sp>
      </p:grpSp>
      <p:sp>
        <p:nvSpPr>
          <p:cNvPr name="Freeform 7" id="7"/>
          <p:cNvSpPr/>
          <p:nvPr/>
        </p:nvSpPr>
        <p:spPr>
          <a:xfrm flipH="false" flipV="false" rot="0">
            <a:off x="2548411" y="2896472"/>
            <a:ext cx="13191179" cy="5457850"/>
          </a:xfrm>
          <a:custGeom>
            <a:avLst/>
            <a:gdLst/>
            <a:ahLst/>
            <a:cxnLst/>
            <a:rect r="r" b="b" t="t" l="l"/>
            <a:pathLst>
              <a:path h="5457850" w="13191179">
                <a:moveTo>
                  <a:pt x="0" y="0"/>
                </a:moveTo>
                <a:lnTo>
                  <a:pt x="13191178" y="0"/>
                </a:lnTo>
                <a:lnTo>
                  <a:pt x="13191178" y="5457850"/>
                </a:lnTo>
                <a:lnTo>
                  <a:pt x="0" y="545785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7466837" y="2001124"/>
            <a:ext cx="3354325" cy="8953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49"/>
              </a:lnSpc>
            </a:pPr>
            <a:r>
              <a:rPr lang="en-US" sz="7499" b="true">
                <a:solidFill>
                  <a:srgbClr val="FFFFFF"/>
                </a:solidFill>
                <a:latin typeface="Dynapuff Semi-Bold"/>
                <a:ea typeface="Dynapuff Semi-Bold"/>
                <a:cs typeface="Dynapuff Semi-Bold"/>
                <a:sym typeface="Dynapuff Semi-Bold"/>
              </a:rPr>
              <a:t>Vistas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784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true" rot="0">
            <a:off x="8051780" y="6160468"/>
            <a:ext cx="12953696" cy="6467166"/>
          </a:xfrm>
          <a:custGeom>
            <a:avLst/>
            <a:gdLst/>
            <a:ahLst/>
            <a:cxnLst/>
            <a:rect r="r" b="b" t="t" l="l"/>
            <a:pathLst>
              <a:path h="6467166" w="12953696">
                <a:moveTo>
                  <a:pt x="0" y="6467166"/>
                </a:moveTo>
                <a:lnTo>
                  <a:pt x="12953695" y="6467166"/>
                </a:lnTo>
                <a:lnTo>
                  <a:pt x="12953695" y="0"/>
                </a:lnTo>
                <a:lnTo>
                  <a:pt x="0" y="0"/>
                </a:lnTo>
                <a:lnTo>
                  <a:pt x="0" y="6467166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true" rot="0">
            <a:off x="-1952410" y="8207003"/>
            <a:ext cx="12953696" cy="6467166"/>
          </a:xfrm>
          <a:custGeom>
            <a:avLst/>
            <a:gdLst/>
            <a:ahLst/>
            <a:cxnLst/>
            <a:rect r="r" b="b" t="t" l="l"/>
            <a:pathLst>
              <a:path h="6467166" w="12953696">
                <a:moveTo>
                  <a:pt x="0" y="6467166"/>
                </a:moveTo>
                <a:lnTo>
                  <a:pt x="12953696" y="6467166"/>
                </a:lnTo>
                <a:lnTo>
                  <a:pt x="12953696" y="0"/>
                </a:lnTo>
                <a:lnTo>
                  <a:pt x="0" y="0"/>
                </a:lnTo>
                <a:lnTo>
                  <a:pt x="0" y="6467166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10033934" y="1890648"/>
            <a:ext cx="7225366" cy="7225366"/>
            <a:chOff x="0" y="0"/>
            <a:chExt cx="812800" cy="812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4"/>
              <a:stretch>
                <a:fillRect l="-28817" t="-2992" r="-33064" b="-5063"/>
              </a:stretch>
            </a:blipFill>
            <a:ln w="95250" cap="sq">
              <a:solidFill>
                <a:srgbClr val="FFFFFF"/>
              </a:solidFill>
              <a:prstDash val="solid"/>
              <a:miter/>
            </a:ln>
          </p:spPr>
        </p:sp>
      </p:grpSp>
      <p:grpSp>
        <p:nvGrpSpPr>
          <p:cNvPr name="Group 6" id="6"/>
          <p:cNvGrpSpPr/>
          <p:nvPr/>
        </p:nvGrpSpPr>
        <p:grpSpPr>
          <a:xfrm rot="0">
            <a:off x="734027" y="931907"/>
            <a:ext cx="5143921" cy="688806"/>
            <a:chOff x="0" y="0"/>
            <a:chExt cx="6858561" cy="91840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121839" cy="918408"/>
            </a:xfrm>
            <a:custGeom>
              <a:avLst/>
              <a:gdLst/>
              <a:ahLst/>
              <a:cxnLst/>
              <a:rect r="r" b="b" t="t" l="l"/>
              <a:pathLst>
                <a:path h="918408" w="2121839">
                  <a:moveTo>
                    <a:pt x="0" y="0"/>
                  </a:moveTo>
                  <a:lnTo>
                    <a:pt x="2121839" y="0"/>
                  </a:lnTo>
                  <a:lnTo>
                    <a:pt x="2121839" y="918408"/>
                  </a:lnTo>
                  <a:lnTo>
                    <a:pt x="0" y="91840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38805" t="-53224" r="-35377" b="-52514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 rot="0">
              <a:off x="2286187" y="134211"/>
              <a:ext cx="4572374" cy="58331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743"/>
                </a:lnSpc>
              </a:pPr>
              <a:r>
                <a:rPr lang="en-US" sz="2599" spc="129">
                  <a:solidFill>
                    <a:srgbClr val="FFFFFF"/>
                  </a:solidFill>
                  <a:latin typeface="Hero Bold"/>
                  <a:ea typeface="Hero Bold"/>
                  <a:cs typeface="Hero Bold"/>
                  <a:sym typeface="Hero Bold"/>
                </a:rPr>
                <a:t>Club Entre Patitas</a:t>
              </a: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1972003" y="3430440"/>
            <a:ext cx="7171997" cy="32906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469"/>
              </a:lnSpc>
            </a:pPr>
            <a:r>
              <a:rPr lang="en-US" sz="9848" b="true">
                <a:solidFill>
                  <a:srgbClr val="FFFFFF"/>
                </a:solidFill>
                <a:latin typeface="Dynapuff Semi-Bold"/>
                <a:ea typeface="Dynapuff Semi-Bold"/>
                <a:cs typeface="Dynapuff Semi-Bold"/>
                <a:sym typeface="Dynapuff Semi-Bold"/>
              </a:rPr>
              <a:t>Gracias por su atención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DAG3IuQiA24</dc:identifier>
  <dcterms:modified xsi:type="dcterms:W3CDTF">2011-08-01T06:04:30Z</dcterms:modified>
  <cp:revision>1</cp:revision>
  <dc:title>Sistema de gestión médica y administrativa para Club Entre Patitas</dc:title>
</cp:coreProperties>
</file>